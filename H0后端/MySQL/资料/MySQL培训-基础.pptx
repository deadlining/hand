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2"/>
  </p:sldMasterIdLst>
  <p:notesMasterIdLst>
    <p:notesMasterId r:id="rId20"/>
  </p:notesMasterIdLst>
  <p:sldIdLst>
    <p:sldId id="256" r:id="rId3"/>
    <p:sldId id="558" r:id="rId4"/>
    <p:sldId id="559" r:id="rId5"/>
    <p:sldId id="560" r:id="rId6"/>
    <p:sldId id="448" r:id="rId7"/>
    <p:sldId id="561" r:id="rId8"/>
    <p:sldId id="562" r:id="rId9"/>
    <p:sldId id="563" r:id="rId10"/>
    <p:sldId id="564" r:id="rId11"/>
    <p:sldId id="565" r:id="rId12"/>
    <p:sldId id="566" r:id="rId13"/>
    <p:sldId id="567" r:id="rId14"/>
    <p:sldId id="568" r:id="rId15"/>
    <p:sldId id="569" r:id="rId16"/>
    <p:sldId id="570" r:id="rId17"/>
    <p:sldId id="571" r:id="rId18"/>
    <p:sldId id="31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欢迎" id="{E75E278A-FF0E-49A4-B170-79828D63BBAD}">
          <p14:sldIdLst>
            <p14:sldId id="256"/>
            <p14:sldId id="558"/>
            <p14:sldId id="559"/>
            <p14:sldId id="560"/>
            <p14:sldId id="448"/>
            <p14:sldId id="561"/>
            <p14:sldId id="562"/>
            <p14:sldId id="563"/>
            <p14:sldId id="564"/>
            <p14:sldId id="565"/>
            <p14:sldId id="566"/>
            <p14:sldId id="567"/>
            <p14:sldId id="568"/>
            <p14:sldId id="569"/>
            <p14:sldId id="570"/>
            <p14:sldId id="571"/>
            <p14:sldId id="318"/>
          </p14:sldIdLst>
        </p14:section>
      </p14:sectionLst>
    </p:ext>
    <p:ext uri="{EFAFB233-063F-42B5-8137-9DF3F51BA10A}">
      <p15:sldGuideLst xmlns="" xmlns:p15="http://schemas.microsoft.com/office/powerpoint/2012/main">
        <p15:guide id="1" orient="horz" pos="2205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4F2B"/>
    <a:srgbClr val="FB4005"/>
    <a:srgbClr val="FFCC66"/>
    <a:srgbClr val="F5E6C7"/>
    <a:srgbClr val="FF6600"/>
    <a:srgbClr val="E8E0D4"/>
    <a:srgbClr val="FFFF66"/>
    <a:srgbClr val="FFFF99"/>
    <a:srgbClr val="FF3737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88" autoAdjust="0"/>
    <p:restoredTop sz="98893" autoAdjust="0"/>
  </p:normalViewPr>
  <p:slideViewPr>
    <p:cSldViewPr snapToGrid="0">
      <p:cViewPr varScale="1">
        <p:scale>
          <a:sx n="70" d="100"/>
          <a:sy n="70" d="100"/>
        </p:scale>
        <p:origin x="-1086" y="-102"/>
      </p:cViewPr>
      <p:guideLst>
        <p:guide orient="horz" pos="2205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commentAuthors" Target="commentAuthor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zh-CN" sz="1200"/>
            </a:lvl1pPr>
          </a:lstStyle>
          <a:p>
            <a:endParaRPr lang="zh-CN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zh-CN" sz="1200"/>
            </a:lvl1pPr>
          </a:lstStyle>
          <a:p>
            <a:fld id="{EC13577B-6902-467D-A26C-08A0DD5E4E03}" type="datetimeFigureOut">
              <a:rPr lang="zh-CN" altLang="en-US"/>
              <a:pPr/>
              <a:t>2019/7/19</a:t>
            </a:fld>
            <a:endParaRPr lang="zh-CN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zh-CN" sz="1200"/>
            </a:lvl1pPr>
          </a:lstStyle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zh-CN" sz="1200"/>
            </a:lvl1pPr>
          </a:lstStyle>
          <a:p>
            <a:fld id="{DF61EA0F-A667-4B49-8422-0062BC55E249}" type="slidenum">
              <a:rPr/>
              <a:pPr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zh-CN" smtClean="0"/>
              <a:pPr/>
              <a:t>1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9212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92123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105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105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105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105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105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105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105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105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105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105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105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105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105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 </a:t>
            </a:r>
            <a:r>
              <a:rPr lang="zh-CN" baseline="0" dirty="0"/>
              <a:t>“幻灯片放映”模式，单击箭头进入 PowerPoint 入门中心。</a:t>
            </a:r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17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465550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 latinLnBrk="0">
              <a:defRPr lang="zh-CN" sz="54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 latinLnBrk="0">
              <a:lnSpc>
                <a:spcPct val="150000"/>
              </a:lnSpc>
              <a:spcBef>
                <a:spcPts val="600"/>
              </a:spcBef>
              <a:buNone/>
              <a:defRPr lang="zh-CN" sz="2800">
                <a:solidFill>
                  <a:srgbClr val="D24726"/>
                </a:solidFill>
                <a:latin typeface="+mj-lt"/>
              </a:defRPr>
            </a:lvl1pPr>
            <a:lvl2pPr marL="457200" indent="0" algn="ctr" latinLnBrk="0">
              <a:buNone/>
              <a:defRPr lang="zh-CN" sz="2000"/>
            </a:lvl2pPr>
            <a:lvl3pPr marL="914400" indent="0" algn="ctr" latinLnBrk="0">
              <a:buNone/>
              <a:defRPr lang="zh-CN" sz="1800"/>
            </a:lvl3pPr>
            <a:lvl4pPr marL="1371600" indent="0" algn="ctr" latinLnBrk="0">
              <a:buNone/>
              <a:defRPr lang="zh-CN" sz="1600"/>
            </a:lvl4pPr>
            <a:lvl5pPr marL="1828800" indent="0" algn="ctr" latinLnBrk="0">
              <a:buNone/>
              <a:defRPr lang="zh-CN" sz="1600"/>
            </a:lvl5pPr>
            <a:lvl6pPr marL="2286000" indent="0" algn="ctr" latinLnBrk="0">
              <a:buNone/>
              <a:defRPr lang="zh-CN" sz="1600"/>
            </a:lvl6pPr>
            <a:lvl7pPr marL="2743200" indent="0" algn="ctr" latinLnBrk="0">
              <a:buNone/>
              <a:defRPr lang="zh-CN" sz="1600"/>
            </a:lvl7pPr>
            <a:lvl8pPr marL="3200400" indent="0" algn="ctr" latinLnBrk="0">
              <a:buNone/>
              <a:defRPr lang="zh-CN" sz="1600"/>
            </a:lvl8pPr>
            <a:lvl9pPr marL="3657600" indent="0" algn="ctr" latinLnBrk="0">
              <a:buNone/>
              <a:defRPr lang="zh-CN" sz="1600"/>
            </a:lvl9pPr>
          </a:lstStyle>
          <a:p>
            <a:r>
              <a:rPr lang="zh-CN" altLang="en-US"/>
              <a:t>单击此处编辑母版副标题样式</a:t>
            </a:r>
            <a:endParaRPr 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zh-CN" altLang="en-US"/>
              <a:pPr/>
              <a:t>2019/7/19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/>
              <a:pPr/>
              <a:t>‹#›</a:t>
            </a:fld>
            <a:endParaRPr lang="zh-CN"/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738231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12192000" cy="738231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738231"/>
          </a:xfrm>
        </p:spPr>
        <p:txBody>
          <a:bodyPr anchor="ctr">
            <a:normAutofit/>
          </a:bodyPr>
          <a:lstStyle>
            <a:lvl1pPr latinLnBrk="0">
              <a:defRPr lang="zh-CN"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 latinLnBrk="0">
              <a:lnSpc>
                <a:spcPct val="150000"/>
              </a:lnSpc>
              <a:spcAft>
                <a:spcPts val="1200"/>
              </a:spcAft>
              <a:buNone/>
              <a:defRPr lang="zh-CN" sz="1600">
                <a:solidFill>
                  <a:schemeClr val="bg1">
                    <a:lumMod val="50000"/>
                  </a:schemeClr>
                </a:solidFill>
              </a:defRPr>
            </a:lvl1pPr>
            <a:lvl2pPr latinLnBrk="0">
              <a:lnSpc>
                <a:spcPct val="150000"/>
              </a:lnSpc>
              <a:spcAft>
                <a:spcPts val="1200"/>
              </a:spcAft>
              <a:defRPr lang="zh-CN" sz="1400">
                <a:solidFill>
                  <a:schemeClr val="bg1">
                    <a:lumMod val="50000"/>
                  </a:schemeClr>
                </a:solidFill>
              </a:defRPr>
            </a:lvl2pPr>
            <a:lvl3pPr latinLnBrk="0">
              <a:lnSpc>
                <a:spcPct val="150000"/>
              </a:lnSpc>
              <a:spcAft>
                <a:spcPts val="1200"/>
              </a:spcAft>
              <a:defRPr lang="zh-CN" sz="1200">
                <a:solidFill>
                  <a:schemeClr val="bg1">
                    <a:lumMod val="50000"/>
                  </a:schemeClr>
                </a:solidFill>
              </a:defRPr>
            </a:lvl3pPr>
            <a:lvl4pPr latinLnBrk="0">
              <a:lnSpc>
                <a:spcPct val="150000"/>
              </a:lnSpc>
              <a:spcAft>
                <a:spcPts val="1200"/>
              </a:spcAft>
              <a:defRPr lang="zh-CN" sz="1100">
                <a:solidFill>
                  <a:schemeClr val="bg1">
                    <a:lumMod val="50000"/>
                  </a:schemeClr>
                </a:solidFill>
              </a:defRPr>
            </a:lvl4pPr>
            <a:lvl5pPr latinLnBrk="0">
              <a:lnSpc>
                <a:spcPct val="150000"/>
              </a:lnSpc>
              <a:spcAft>
                <a:spcPts val="1200"/>
              </a:spcAft>
              <a:defRPr lang="zh-CN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zh-CN" altLang="en-US"/>
              <a:pPr/>
              <a:t>2019/7/19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/>
              <a:pPr/>
              <a:t>‹#›</a:t>
            </a:fld>
            <a:endParaRPr lang="zh-CN"/>
          </a:p>
        </p:txBody>
      </p:sp>
      <p:pic>
        <p:nvPicPr>
          <p:cNvPr id="9" name="图片 13" descr="logo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01400" y="6608763"/>
            <a:ext cx="990600" cy="249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11853446" y="4276578"/>
            <a:ext cx="338554" cy="2273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 wrap="square">
            <a:spAutoFit/>
          </a:bodyPr>
          <a:lstStyle/>
          <a:p>
            <a:pPr algn="r">
              <a:defRPr/>
            </a:pPr>
            <a:r>
              <a:rPr lang="zh-CN" altLang="en-US" sz="1000" b="0" dirty="0">
                <a:solidFill>
                  <a:srgbClr val="777777"/>
                </a:solidFill>
                <a:latin typeface="黑体" pitchFamily="2" charset="-122"/>
                <a:ea typeface="黑体" pitchFamily="2" charset="-122"/>
              </a:rPr>
              <a:t>仅供汉得公司内部阅读与使用</a:t>
            </a:r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 latinLnBrk="0">
              <a:defRPr lang="zh-CN" sz="4800">
                <a:solidFill>
                  <a:srgbClr val="D24726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 latinLnBrk="0">
              <a:lnSpc>
                <a:spcPct val="150000"/>
              </a:lnSpc>
              <a:buNone/>
              <a:defRPr lang="zh-CN" sz="2800">
                <a:solidFill>
                  <a:schemeClr val="bg1"/>
                </a:solidFill>
                <a:latin typeface="+mj-lt"/>
              </a:defRPr>
            </a:lvl1pPr>
            <a:lvl2pPr marL="457200" indent="0" latinLnBrk="0">
              <a:buNone/>
              <a:defRPr lang="zh-CN" sz="2000"/>
            </a:lvl2pPr>
            <a:lvl3pPr marL="914400" indent="0" latinLnBrk="0">
              <a:buNone/>
              <a:defRPr lang="zh-CN" sz="1800"/>
            </a:lvl3pPr>
            <a:lvl4pPr marL="1371600" indent="0" latinLnBrk="0">
              <a:buNone/>
              <a:defRPr lang="zh-CN" sz="1600"/>
            </a:lvl4pPr>
            <a:lvl5pPr marL="1828800" indent="0" latinLnBrk="0">
              <a:buNone/>
              <a:defRPr lang="zh-CN" sz="1600"/>
            </a:lvl5pPr>
            <a:lvl6pPr marL="2286000" indent="0" latinLnBrk="0">
              <a:buNone/>
              <a:defRPr lang="zh-CN" sz="1600"/>
            </a:lvl6pPr>
            <a:lvl7pPr marL="2743200" indent="0" latinLnBrk="0">
              <a:buNone/>
              <a:defRPr lang="zh-CN" sz="1600"/>
            </a:lvl7pPr>
            <a:lvl8pPr marL="3200400" indent="0" latinLnBrk="0">
              <a:buNone/>
              <a:defRPr lang="zh-CN" sz="1600"/>
            </a:lvl8pPr>
            <a:lvl9pPr marL="3657600" indent="0" latinLnBrk="0">
              <a:buNone/>
              <a:defRPr lang="zh-CN"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zh-CN" altLang="en-US"/>
              <a:pPr/>
              <a:t>2019/7/19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/>
              <a:pPr/>
              <a:t>‹#›</a:t>
            </a:fld>
            <a:endParaRPr lang="zh-CN"/>
          </a:p>
        </p:txBody>
      </p:sp>
      <p:sp>
        <p:nvSpPr>
          <p:cNvPr id="8" name="矩形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  <p:pic>
        <p:nvPicPr>
          <p:cNvPr id="9" name="图片 13" descr="logo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01400" y="6608763"/>
            <a:ext cx="990600" cy="249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11853446" y="4276578"/>
            <a:ext cx="338554" cy="2273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 wrap="square">
            <a:spAutoFit/>
          </a:bodyPr>
          <a:lstStyle/>
          <a:p>
            <a:pPr algn="r">
              <a:defRPr/>
            </a:pPr>
            <a:r>
              <a:rPr lang="zh-CN" altLang="en-US" sz="1000" b="0" dirty="0">
                <a:solidFill>
                  <a:srgbClr val="777777"/>
                </a:solidFill>
                <a:latin typeface="黑体" pitchFamily="2" charset="-122"/>
                <a:ea typeface="黑体" pitchFamily="2" charset="-122"/>
              </a:rPr>
              <a:t>仅供汉得公司内部阅读与使用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 latinLnBrk="0">
              <a:defRPr lang="zh-CN" sz="3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 latinLnBrk="0">
              <a:defRPr lang="zh-CN" sz="1600">
                <a:solidFill>
                  <a:schemeClr val="bg1">
                    <a:lumMod val="50000"/>
                  </a:schemeClr>
                </a:solidFill>
              </a:defRPr>
            </a:lvl1pPr>
            <a:lvl2pPr latinLnBrk="0">
              <a:defRPr lang="zh-CN" sz="1400">
                <a:solidFill>
                  <a:schemeClr val="bg1">
                    <a:lumMod val="50000"/>
                  </a:schemeClr>
                </a:solidFill>
              </a:defRPr>
            </a:lvl2pPr>
            <a:lvl3pPr latinLnBrk="0">
              <a:defRPr lang="zh-CN" sz="1200">
                <a:solidFill>
                  <a:schemeClr val="bg1">
                    <a:lumMod val="50000"/>
                  </a:schemeClr>
                </a:solidFill>
              </a:defRPr>
            </a:lvl3pPr>
            <a:lvl4pPr latinLnBrk="0">
              <a:defRPr lang="zh-CN" sz="1100">
                <a:solidFill>
                  <a:schemeClr val="bg1">
                    <a:lumMod val="50000"/>
                  </a:schemeClr>
                </a:solidFill>
              </a:defRPr>
            </a:lvl4pPr>
            <a:lvl5pPr latinLnBrk="0">
              <a:defRPr lang="zh-CN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单击此处编辑母版文本样式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第二级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第三级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第四级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第五级</a:t>
            </a:r>
            <a:endParaRPr lang="zh-CN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 latinLnBrk="0">
              <a:defRPr lang="zh-CN" sz="1600">
                <a:solidFill>
                  <a:schemeClr val="bg1">
                    <a:lumMod val="50000"/>
                  </a:schemeClr>
                </a:solidFill>
              </a:defRPr>
            </a:lvl1pPr>
            <a:lvl2pPr latinLnBrk="0">
              <a:defRPr lang="zh-CN" sz="1400">
                <a:solidFill>
                  <a:schemeClr val="bg1">
                    <a:lumMod val="50000"/>
                  </a:schemeClr>
                </a:solidFill>
              </a:defRPr>
            </a:lvl2pPr>
            <a:lvl3pPr latinLnBrk="0">
              <a:defRPr lang="zh-CN" sz="1200">
                <a:solidFill>
                  <a:schemeClr val="bg1">
                    <a:lumMod val="50000"/>
                  </a:schemeClr>
                </a:solidFill>
              </a:defRPr>
            </a:lvl3pPr>
            <a:lvl4pPr latinLnBrk="0">
              <a:defRPr lang="zh-CN" sz="1100">
                <a:solidFill>
                  <a:schemeClr val="bg1">
                    <a:lumMod val="50000"/>
                  </a:schemeClr>
                </a:solidFill>
              </a:defRPr>
            </a:lvl4pPr>
            <a:lvl5pPr latinLnBrk="0">
              <a:defRPr lang="zh-CN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单击此处编辑母版文本样式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第二级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第三级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第四级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第五级</a:t>
            </a:r>
            <a:endParaRPr 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zh-CN" altLang="en-US"/>
              <a:pPr/>
              <a:t>2019/7/19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/>
              <a:pPr/>
              <a:t>‹#›</a:t>
            </a:fld>
            <a:endParaRPr lang="zh-CN"/>
          </a:p>
        </p:txBody>
      </p:sp>
      <p:sp>
        <p:nvSpPr>
          <p:cNvPr id="9" name="矩形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  <p:pic>
        <p:nvPicPr>
          <p:cNvPr id="10" name="图片 13" descr="logo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01400" y="6608763"/>
            <a:ext cx="990600" cy="249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>
            <a:spLocks noChangeArrowheads="1"/>
          </p:cNvSpPr>
          <p:nvPr userDrawn="1"/>
        </p:nvSpPr>
        <p:spPr bwMode="auto">
          <a:xfrm>
            <a:off x="11853446" y="4276578"/>
            <a:ext cx="338554" cy="2273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 wrap="square">
            <a:spAutoFit/>
          </a:bodyPr>
          <a:lstStyle/>
          <a:p>
            <a:pPr algn="r">
              <a:defRPr/>
            </a:pPr>
            <a:r>
              <a:rPr lang="zh-CN" altLang="en-US" sz="1000" b="0" dirty="0">
                <a:solidFill>
                  <a:srgbClr val="777777"/>
                </a:solidFill>
                <a:latin typeface="黑体" pitchFamily="2" charset="-122"/>
                <a:ea typeface="黑体" pitchFamily="2" charset="-122"/>
              </a:rPr>
              <a:t>仅供汉得公司内部阅读与使用</a:t>
            </a:r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 latinLnBrk="0">
              <a:defRPr lang="zh-CN" sz="3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 latinLnBrk="0">
              <a:buNone/>
              <a:defRPr lang="zh-CN" sz="2400" b="1"/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 latinLnBrk="0">
              <a:defRPr lang="zh-CN" sz="1600">
                <a:solidFill>
                  <a:schemeClr val="bg1">
                    <a:lumMod val="50000"/>
                  </a:schemeClr>
                </a:solidFill>
              </a:defRPr>
            </a:lvl1pPr>
            <a:lvl2pPr latinLnBrk="0">
              <a:defRPr lang="zh-CN" sz="1400">
                <a:solidFill>
                  <a:schemeClr val="bg1">
                    <a:lumMod val="50000"/>
                  </a:schemeClr>
                </a:solidFill>
              </a:defRPr>
            </a:lvl2pPr>
            <a:lvl3pPr latinLnBrk="0">
              <a:defRPr lang="zh-CN" sz="1200">
                <a:solidFill>
                  <a:schemeClr val="bg1">
                    <a:lumMod val="50000"/>
                  </a:schemeClr>
                </a:solidFill>
              </a:defRPr>
            </a:lvl3pPr>
            <a:lvl4pPr latinLnBrk="0">
              <a:defRPr lang="zh-CN" sz="1100">
                <a:solidFill>
                  <a:schemeClr val="bg1">
                    <a:lumMod val="50000"/>
                  </a:schemeClr>
                </a:solidFill>
              </a:defRPr>
            </a:lvl4pPr>
            <a:lvl5pPr latinLnBrk="0">
              <a:defRPr lang="zh-CN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单击此处编辑母版文本样式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第二级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第三级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第四级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第五级</a:t>
            </a:r>
            <a:endParaRPr 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 latinLnBrk="0">
              <a:buNone/>
              <a:defRPr lang="zh-CN" sz="2400" b="1"/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 latinLnBrk="0">
              <a:defRPr lang="zh-CN" sz="1600">
                <a:solidFill>
                  <a:schemeClr val="bg1">
                    <a:lumMod val="50000"/>
                  </a:schemeClr>
                </a:solidFill>
              </a:defRPr>
            </a:lvl1pPr>
            <a:lvl2pPr latinLnBrk="0">
              <a:defRPr lang="zh-CN" sz="1400">
                <a:solidFill>
                  <a:schemeClr val="bg1">
                    <a:lumMod val="50000"/>
                  </a:schemeClr>
                </a:solidFill>
              </a:defRPr>
            </a:lvl2pPr>
            <a:lvl3pPr latinLnBrk="0">
              <a:defRPr lang="zh-CN" sz="1200">
                <a:solidFill>
                  <a:schemeClr val="bg1">
                    <a:lumMod val="50000"/>
                  </a:schemeClr>
                </a:solidFill>
              </a:defRPr>
            </a:lvl3pPr>
            <a:lvl4pPr latinLnBrk="0">
              <a:defRPr lang="zh-CN" sz="1100">
                <a:solidFill>
                  <a:schemeClr val="bg1">
                    <a:lumMod val="50000"/>
                  </a:schemeClr>
                </a:solidFill>
              </a:defRPr>
            </a:lvl4pPr>
            <a:lvl5pPr latinLnBrk="0">
              <a:defRPr lang="zh-CN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单击此处编辑母版文本样式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第二级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第三级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第四级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第五级</a:t>
            </a:r>
            <a:endParaRPr 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zh-CN" altLang="en-US"/>
              <a:pPr/>
              <a:t>2019/7/19</a:t>
            </a:fld>
            <a:endParaRPr 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/>
              <a:pPr/>
              <a:t>‹#›</a:t>
            </a:fld>
            <a:endParaRPr lang="zh-CN"/>
          </a:p>
        </p:txBody>
      </p:sp>
      <p:sp>
        <p:nvSpPr>
          <p:cNvPr id="11" name="矩形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  <p:pic>
        <p:nvPicPr>
          <p:cNvPr id="12" name="图片 13" descr="logo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01400" y="6608763"/>
            <a:ext cx="990600" cy="249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>
            <a:spLocks noChangeArrowheads="1"/>
          </p:cNvSpPr>
          <p:nvPr userDrawn="1"/>
        </p:nvSpPr>
        <p:spPr bwMode="auto">
          <a:xfrm>
            <a:off x="11853446" y="4276578"/>
            <a:ext cx="338554" cy="2273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 wrap="square">
            <a:spAutoFit/>
          </a:bodyPr>
          <a:lstStyle/>
          <a:p>
            <a:pPr algn="r">
              <a:defRPr/>
            </a:pPr>
            <a:r>
              <a:rPr lang="zh-CN" altLang="en-US" sz="1000" b="0" dirty="0">
                <a:solidFill>
                  <a:srgbClr val="777777"/>
                </a:solidFill>
                <a:latin typeface="黑体" pitchFamily="2" charset="-122"/>
                <a:ea typeface="黑体" pitchFamily="2" charset="-122"/>
              </a:rPr>
              <a:t>仅供汉得公司内部阅读与使用</a:t>
            </a:r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 latinLnBrk="0">
              <a:defRPr lang="zh-CN" sz="3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zh-CN" altLang="en-US"/>
              <a:pPr/>
              <a:t>2019/7/19</a:t>
            </a:fld>
            <a:endParaRPr 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/>
              <a:pPr/>
              <a:t>‹#›</a:t>
            </a:fld>
            <a:endParaRPr lang="zh-CN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  <p:pic>
        <p:nvPicPr>
          <p:cNvPr id="8" name="图片 13" descr="logo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01400" y="6608763"/>
            <a:ext cx="990600" cy="249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>
            <a:spLocks noChangeArrowheads="1"/>
          </p:cNvSpPr>
          <p:nvPr userDrawn="1"/>
        </p:nvSpPr>
        <p:spPr bwMode="auto">
          <a:xfrm>
            <a:off x="11853446" y="4276578"/>
            <a:ext cx="338554" cy="2273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 wrap="square">
            <a:spAutoFit/>
          </a:bodyPr>
          <a:lstStyle/>
          <a:p>
            <a:pPr algn="r">
              <a:defRPr/>
            </a:pPr>
            <a:r>
              <a:rPr lang="zh-CN" altLang="en-US" sz="1000" b="0" dirty="0">
                <a:solidFill>
                  <a:srgbClr val="777777"/>
                </a:solidFill>
                <a:latin typeface="黑体" pitchFamily="2" charset="-122"/>
                <a:ea typeface="黑体" pitchFamily="2" charset="-122"/>
              </a:rPr>
              <a:t>仅供汉得公司内部阅读与使用</a:t>
            </a:r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zh-CN" altLang="en-US"/>
              <a:pPr/>
              <a:t>2019/7/19</a:t>
            </a:fld>
            <a:endParaRPr 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/>
              <a:pPr/>
              <a:t>‹#›</a:t>
            </a:fld>
            <a:endParaRPr lang="zh-CN"/>
          </a:p>
        </p:txBody>
      </p:sp>
      <p:pic>
        <p:nvPicPr>
          <p:cNvPr id="5" name="图片 13" descr="logo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01400" y="6608763"/>
            <a:ext cx="990600" cy="249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11853446" y="4276578"/>
            <a:ext cx="338554" cy="2273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 wrap="square">
            <a:spAutoFit/>
          </a:bodyPr>
          <a:lstStyle/>
          <a:p>
            <a:pPr algn="r">
              <a:defRPr/>
            </a:pPr>
            <a:r>
              <a:rPr lang="zh-CN" altLang="en-US" sz="1000" b="0" dirty="0">
                <a:solidFill>
                  <a:srgbClr val="777777"/>
                </a:solidFill>
                <a:latin typeface="黑体" pitchFamily="2" charset="-122"/>
                <a:ea typeface="黑体" pitchFamily="2" charset="-122"/>
              </a:rPr>
              <a:t>仅供汉得公司内部阅读与使用</a:t>
            </a:r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atinLnBrk="0">
              <a:defRPr lang="zh-CN" sz="320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 latinLnBrk="0">
              <a:defRPr lang="zh-CN" sz="1600">
                <a:solidFill>
                  <a:schemeClr val="bg1">
                    <a:lumMod val="50000"/>
                  </a:schemeClr>
                </a:solidFill>
              </a:defRPr>
            </a:lvl1pPr>
            <a:lvl2pPr latinLnBrk="0">
              <a:defRPr lang="zh-CN" sz="1400">
                <a:solidFill>
                  <a:schemeClr val="bg1">
                    <a:lumMod val="50000"/>
                  </a:schemeClr>
                </a:solidFill>
              </a:defRPr>
            </a:lvl2pPr>
            <a:lvl3pPr latinLnBrk="0">
              <a:defRPr lang="zh-CN" sz="1200">
                <a:solidFill>
                  <a:schemeClr val="bg1">
                    <a:lumMod val="50000"/>
                  </a:schemeClr>
                </a:solidFill>
              </a:defRPr>
            </a:lvl3pPr>
            <a:lvl4pPr latinLnBrk="0">
              <a:defRPr lang="zh-CN" sz="1100">
                <a:solidFill>
                  <a:schemeClr val="bg1">
                    <a:lumMod val="50000"/>
                  </a:schemeClr>
                </a:solidFill>
              </a:defRPr>
            </a:lvl4pPr>
            <a:lvl5pPr latinLnBrk="0">
              <a:defRPr lang="zh-CN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单击此处编辑母版文本样式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第二级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第三级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第四级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第五级</a:t>
            </a: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 latinLnBrk="0">
              <a:buNone/>
              <a:defRPr lang="zh-CN" sz="1600"/>
            </a:lvl1pPr>
            <a:lvl2pPr marL="457200" indent="0" latinLnBrk="0">
              <a:buNone/>
              <a:defRPr lang="zh-CN" sz="1400"/>
            </a:lvl2pPr>
            <a:lvl3pPr marL="914400" indent="0" latinLnBrk="0">
              <a:buNone/>
              <a:defRPr lang="zh-CN" sz="1200"/>
            </a:lvl3pPr>
            <a:lvl4pPr marL="1371600" indent="0" latinLnBrk="0">
              <a:buNone/>
              <a:defRPr lang="zh-CN" sz="1000"/>
            </a:lvl4pPr>
            <a:lvl5pPr marL="1828800" indent="0" latinLnBrk="0">
              <a:buNone/>
              <a:defRPr lang="zh-CN" sz="1000"/>
            </a:lvl5pPr>
            <a:lvl6pPr marL="2286000" indent="0" latinLnBrk="0">
              <a:buNone/>
              <a:defRPr lang="zh-CN" sz="1000"/>
            </a:lvl6pPr>
            <a:lvl7pPr marL="2743200" indent="0" latinLnBrk="0">
              <a:buNone/>
              <a:defRPr lang="zh-CN" sz="1000"/>
            </a:lvl7pPr>
            <a:lvl8pPr marL="3200400" indent="0" latinLnBrk="0">
              <a:buNone/>
              <a:defRPr lang="zh-CN" sz="1000"/>
            </a:lvl8pPr>
            <a:lvl9pPr marL="3657600" indent="0" latinLnBrk="0">
              <a:buNone/>
              <a:defRPr lang="zh-CN"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zh-CN" altLang="en-US"/>
              <a:pPr/>
              <a:t>2019/7/19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/>
              <a:pPr/>
              <a:t>‹#›</a:t>
            </a:fld>
            <a:endParaRPr lang="zh-CN"/>
          </a:p>
        </p:txBody>
      </p:sp>
      <p:pic>
        <p:nvPicPr>
          <p:cNvPr id="8" name="图片 13" descr="logo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01400" y="6608763"/>
            <a:ext cx="990600" cy="249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>
            <a:spLocks noChangeArrowheads="1"/>
          </p:cNvSpPr>
          <p:nvPr userDrawn="1"/>
        </p:nvSpPr>
        <p:spPr bwMode="auto">
          <a:xfrm>
            <a:off x="11853446" y="4276578"/>
            <a:ext cx="338554" cy="2273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 wrap="square">
            <a:spAutoFit/>
          </a:bodyPr>
          <a:lstStyle/>
          <a:p>
            <a:pPr algn="r">
              <a:defRPr/>
            </a:pPr>
            <a:r>
              <a:rPr lang="zh-CN" altLang="en-US" sz="1000" b="0" dirty="0">
                <a:solidFill>
                  <a:srgbClr val="777777"/>
                </a:solidFill>
                <a:latin typeface="黑体" pitchFamily="2" charset="-122"/>
                <a:ea typeface="黑体" pitchFamily="2" charset="-122"/>
              </a:rPr>
              <a:t>仅供汉得公司内部阅读与使用</a:t>
            </a:r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atinLnBrk="0">
              <a:defRPr lang="zh-CN" sz="320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 latinLnBrk="0">
              <a:buNone/>
              <a:defRPr lang="zh-CN" sz="3200"/>
            </a:lvl1pPr>
            <a:lvl2pPr marL="457200" indent="0" latinLnBrk="0">
              <a:buNone/>
              <a:defRPr lang="zh-CN" sz="2800"/>
            </a:lvl2pPr>
            <a:lvl3pPr marL="914400" indent="0" latinLnBrk="0">
              <a:buNone/>
              <a:defRPr lang="zh-CN" sz="2400"/>
            </a:lvl3pPr>
            <a:lvl4pPr marL="1371600" indent="0" latinLnBrk="0">
              <a:buNone/>
              <a:defRPr lang="zh-CN" sz="2000"/>
            </a:lvl4pPr>
            <a:lvl5pPr marL="1828800" indent="0" latinLnBrk="0">
              <a:buNone/>
              <a:defRPr lang="zh-CN" sz="2000"/>
            </a:lvl5pPr>
            <a:lvl6pPr marL="2286000" indent="0" latinLnBrk="0">
              <a:buNone/>
              <a:defRPr lang="zh-CN" sz="2000"/>
            </a:lvl6pPr>
            <a:lvl7pPr marL="2743200" indent="0" latinLnBrk="0">
              <a:buNone/>
              <a:defRPr lang="zh-CN" sz="2000"/>
            </a:lvl7pPr>
            <a:lvl8pPr marL="3200400" indent="0" latinLnBrk="0">
              <a:buNone/>
              <a:defRPr lang="zh-CN" sz="2000"/>
            </a:lvl8pPr>
            <a:lvl9pPr marL="3657600" indent="0" latinLnBrk="0">
              <a:buNone/>
              <a:defRPr lang="zh-CN" sz="2000"/>
            </a:lvl9pPr>
          </a:lstStyle>
          <a:p>
            <a:r>
              <a:rPr lang="zh-CN" altLang="en-US"/>
              <a:t>单击图标添加图片</a:t>
            </a: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 latinLnBrk="0">
              <a:buNone/>
              <a:defRPr lang="zh-CN" sz="1600"/>
            </a:lvl1pPr>
            <a:lvl2pPr marL="457200" indent="0" latinLnBrk="0">
              <a:buNone/>
              <a:defRPr lang="zh-CN" sz="1400"/>
            </a:lvl2pPr>
            <a:lvl3pPr marL="914400" indent="0" latinLnBrk="0">
              <a:buNone/>
              <a:defRPr lang="zh-CN" sz="1200"/>
            </a:lvl3pPr>
            <a:lvl4pPr marL="1371600" indent="0" latinLnBrk="0">
              <a:buNone/>
              <a:defRPr lang="zh-CN" sz="1000"/>
            </a:lvl4pPr>
            <a:lvl5pPr marL="1828800" indent="0" latinLnBrk="0">
              <a:buNone/>
              <a:defRPr lang="zh-CN" sz="1000"/>
            </a:lvl5pPr>
            <a:lvl6pPr marL="2286000" indent="0" latinLnBrk="0">
              <a:buNone/>
              <a:defRPr lang="zh-CN" sz="1000"/>
            </a:lvl6pPr>
            <a:lvl7pPr marL="2743200" indent="0" latinLnBrk="0">
              <a:buNone/>
              <a:defRPr lang="zh-CN" sz="1000"/>
            </a:lvl7pPr>
            <a:lvl8pPr marL="3200400" indent="0" latinLnBrk="0">
              <a:buNone/>
              <a:defRPr lang="zh-CN" sz="1000"/>
            </a:lvl8pPr>
            <a:lvl9pPr marL="3657600" indent="0" latinLnBrk="0">
              <a:buNone/>
              <a:defRPr lang="zh-CN"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zh-CN" altLang="en-US"/>
              <a:pPr/>
              <a:t>2019/7/19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/>
              <a:pPr/>
              <a:t>‹#›</a:t>
            </a:fld>
            <a:endParaRPr lang="zh-CN"/>
          </a:p>
        </p:txBody>
      </p:sp>
      <p:pic>
        <p:nvPicPr>
          <p:cNvPr id="8" name="图片 13" descr="logo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01400" y="6608763"/>
            <a:ext cx="990600" cy="249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>
            <a:spLocks noChangeArrowheads="1"/>
          </p:cNvSpPr>
          <p:nvPr userDrawn="1"/>
        </p:nvSpPr>
        <p:spPr bwMode="auto">
          <a:xfrm>
            <a:off x="11853446" y="4276578"/>
            <a:ext cx="338554" cy="2273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 wrap="square">
            <a:spAutoFit/>
          </a:bodyPr>
          <a:lstStyle/>
          <a:p>
            <a:pPr algn="r">
              <a:defRPr/>
            </a:pPr>
            <a:r>
              <a:rPr lang="zh-CN" altLang="en-US" sz="1000" b="0" dirty="0">
                <a:solidFill>
                  <a:srgbClr val="777777"/>
                </a:solidFill>
                <a:latin typeface="黑体" pitchFamily="2" charset="-122"/>
                <a:ea typeface="黑体" pitchFamily="2" charset="-122"/>
              </a:rPr>
              <a:t>仅供汉得公司内部阅读与使用</a:t>
            </a:r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 latinLnBrk="0">
              <a:defRPr lang="zh-CN" sz="3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zh-CN" altLang="en-US"/>
              <a:pPr/>
              <a:t>2019/7/19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/>
              <a:pPr/>
              <a:t>‹#›</a:t>
            </a:fld>
            <a:endParaRPr lang="zh-CN"/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  <p:pic>
        <p:nvPicPr>
          <p:cNvPr id="9" name="图片 13" descr="logo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01400" y="6608763"/>
            <a:ext cx="990600" cy="249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11853446" y="4276578"/>
            <a:ext cx="338554" cy="2273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 wrap="square">
            <a:spAutoFit/>
          </a:bodyPr>
          <a:lstStyle/>
          <a:p>
            <a:pPr algn="r">
              <a:defRPr/>
            </a:pPr>
            <a:r>
              <a:rPr lang="zh-CN" altLang="en-US" sz="1000" b="0" dirty="0">
                <a:solidFill>
                  <a:srgbClr val="777777"/>
                </a:solidFill>
                <a:latin typeface="黑体" pitchFamily="2" charset="-122"/>
                <a:ea typeface="黑体" pitchFamily="2" charset="-122"/>
              </a:rPr>
              <a:t>仅供汉得公司内部阅读与使用</a:t>
            </a:r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 latinLnBrk="0">
              <a:defRPr lang="zh-CN" sz="3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zh-CN" altLang="en-US"/>
              <a:pPr/>
              <a:t>2019/7/19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/>
              <a:pPr/>
              <a:t>‹#›</a:t>
            </a:fld>
            <a:endParaRPr lang="zh-CN"/>
          </a:p>
        </p:txBody>
      </p:sp>
      <p:sp>
        <p:nvSpPr>
          <p:cNvPr id="8" name="矩形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lang="zh-CN" sz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8BEEBAAA-29B5-4AF5-BC5F-7E580C29002D}" type="datetimeFigureOut">
              <a:rPr lang="en-US" altLang="zh-CN" smtClean="0"/>
              <a:pPr/>
              <a:t>7/19/2019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latinLnBrk="0">
              <a:defRPr lang="zh-CN" sz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CN" sz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9860EDB8-5305-433F-BE41-D7A86D811DB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lang="zh-CN" sz="44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lang="zh-CN" sz="28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lang="zh-CN" sz="24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lang="zh-CN" sz="20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95275" y="1041400"/>
            <a:ext cx="4758751" cy="2387600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en-US" altLang="zh-CN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charset="-122"/>
                <a:ea typeface="Microsoft YaHei" charset="-122"/>
                <a:cs typeface="Microsoft YaHei" charset="-122"/>
              </a:rPr>
              <a:t>MySQL</a:t>
            </a:r>
            <a:endParaRPr 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95352" y="5433442"/>
            <a:ext cx="9383971" cy="1137793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姓名</a:t>
            </a:r>
            <a:r>
              <a:rPr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：王浩</a:t>
            </a:r>
            <a:endParaRPr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日期：</a:t>
            </a:r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2019.07</a:t>
            </a:r>
          </a:p>
        </p:txBody>
      </p:sp>
      <p:pic>
        <p:nvPicPr>
          <p:cNvPr id="6" name="Picture 2" descr="C:\Users\hand\AppData\Roaming\Foxmail7\Temp-2028-20160122153227\2015-01-07 hand 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6631" y="4878963"/>
            <a:ext cx="2585844" cy="1958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06"/>
          <a:stretch/>
        </p:blipFill>
        <p:spPr>
          <a:xfrm>
            <a:off x="5343526" y="0"/>
            <a:ext cx="6846895" cy="48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 smtClean="0"/>
              <a:t>DML/DDL/</a:t>
            </a:r>
            <a:r>
              <a:rPr lang="en-US" altLang="zh-CN" b="1" dirty="0"/>
              <a:t>DCL</a:t>
            </a:r>
            <a:endParaRPr lang="zh-CN" altLang="en-US" b="1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23163" y="982345"/>
            <a:ext cx="740618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DML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用于查询与修改数据记录，包括如下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SQL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语句：</a:t>
            </a:r>
          </a:p>
          <a:p>
            <a:pPr marL="285750" indent="-285750">
              <a:buFont typeface="Wingdings" pitchFamily="2" charset="2"/>
              <a:buChar char="u"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INSERT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：添加数据到数据库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中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285750" indent="-285750">
              <a:buFont typeface="Wingdings" pitchFamily="2" charset="2"/>
              <a:buChar char="u"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UPDATE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：修改数据库中的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数据。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u"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DELETE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：删除数据库中的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数据。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u"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SELECT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：选择（查询）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数据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, SELECT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是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SQL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语言的基础，最为重要。</a:t>
            </a:r>
          </a:p>
        </p:txBody>
      </p:sp>
      <p:sp>
        <p:nvSpPr>
          <p:cNvPr id="5" name="矩形 4"/>
          <p:cNvSpPr/>
          <p:nvPr/>
        </p:nvSpPr>
        <p:spPr>
          <a:xfrm>
            <a:off x="523162" y="2754405"/>
            <a:ext cx="782926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DDL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用于定义数据库的结构，比如创建、修改或删除数据库对象，包括如下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SQL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语句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2400" dirty="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u"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CREATETABLE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：创建数据库表</a:t>
            </a:r>
          </a:p>
          <a:p>
            <a:pPr marL="285750" indent="-285750">
              <a:buFont typeface="Wingdings" pitchFamily="2" charset="2"/>
              <a:buChar char="u"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ALTER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TABLE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：更改表结构、添加、删除、修改列长度</a:t>
            </a:r>
          </a:p>
          <a:p>
            <a:pPr marL="285750" indent="-285750">
              <a:buFont typeface="Wingdings" pitchFamily="2" charset="2"/>
              <a:buChar char="u"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DROP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TABLE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：删除表</a:t>
            </a:r>
          </a:p>
          <a:p>
            <a:pPr marL="285750" indent="-285750">
              <a:buFont typeface="Wingdings" pitchFamily="2" charset="2"/>
              <a:buChar char="u"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CREATE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INDEX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：在表上建立索引</a:t>
            </a:r>
          </a:p>
          <a:p>
            <a:pPr marL="285750" indent="-285750">
              <a:buFont typeface="Wingdings" pitchFamily="2" charset="2"/>
              <a:buChar char="u"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DROP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INDEX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：删除索引</a:t>
            </a:r>
          </a:p>
          <a:p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879" y="5224890"/>
            <a:ext cx="5905500" cy="80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148" y="3264695"/>
            <a:ext cx="4717467" cy="3269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9079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 smtClean="0"/>
              <a:t>DML/DDL/</a:t>
            </a:r>
            <a:r>
              <a:rPr lang="en-US" altLang="zh-CN" b="1" dirty="0"/>
              <a:t>DCL</a:t>
            </a:r>
            <a:endParaRPr lang="zh-CN" altLang="en-US" b="1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23163" y="982345"/>
            <a:ext cx="7406185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DCL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用来控制数据库的访问，包括如下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SQL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语句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u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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GRANT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：授予访问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权限。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u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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REVOKE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：撤销访问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权限。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u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COMMIT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：提交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事务处理。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u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ROLLBACK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：事务处理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回退。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u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SAVEPOINT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：设置保存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点。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u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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LOCK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：对数据库的特定部分进行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锁定。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9476" y="1848419"/>
            <a:ext cx="3286125" cy="10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271" y="1848419"/>
            <a:ext cx="3248025" cy="81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499" y="3373556"/>
            <a:ext cx="6494463" cy="285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124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659" y="0"/>
            <a:ext cx="10749367" cy="738231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      </a:t>
            </a:r>
            <a:r>
              <a:rPr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基础</a:t>
            </a:r>
            <a:r>
              <a:rPr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SELECT</a:t>
            </a:r>
            <a:r>
              <a:rPr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语句</a:t>
            </a:r>
            <a:endParaRPr lang="zh-CN" altLang="en-US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2" name="矩形: 圆角 1"/>
          <p:cNvSpPr/>
          <p:nvPr/>
        </p:nvSpPr>
        <p:spPr>
          <a:xfrm rot="2700000">
            <a:off x="220543" y="96253"/>
            <a:ext cx="608141" cy="608141"/>
          </a:xfrm>
          <a:prstGeom prst="roundRect">
            <a:avLst/>
          </a:prstGeom>
          <a:solidFill>
            <a:srgbClr val="D54F2B"/>
          </a:solidFill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60758" y="170135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01</a:t>
            </a:r>
          </a:p>
        </p:txBody>
      </p:sp>
      <p:sp>
        <p:nvSpPr>
          <p:cNvPr id="3" name="矩形 2"/>
          <p:cNvSpPr/>
          <p:nvPr/>
        </p:nvSpPr>
        <p:spPr>
          <a:xfrm>
            <a:off x="788466" y="1290683"/>
            <a:ext cx="1098955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SELECT*|{[DISTINCT] </a:t>
            </a:r>
            <a:r>
              <a:rPr lang="en-US" altLang="zh-CN" sz="2000" b="1" i="1" dirty="0" err="1">
                <a:latin typeface="微软雅黑" pitchFamily="34" charset="-122"/>
                <a:ea typeface="微软雅黑" pitchFamily="34" charset="-122"/>
              </a:rPr>
              <a:t>column</a:t>
            </a:r>
            <a:r>
              <a:rPr lang="en-US" altLang="zh-CN" sz="2000" b="1" dirty="0" err="1">
                <a:latin typeface="微软雅黑" pitchFamily="34" charset="-122"/>
                <a:ea typeface="微软雅黑" pitchFamily="34" charset="-122"/>
              </a:rPr>
              <a:t>|</a:t>
            </a:r>
            <a:r>
              <a:rPr lang="en-US" altLang="zh-CN" sz="2000" b="1" i="1" dirty="0" err="1">
                <a:latin typeface="微软雅黑" pitchFamily="34" charset="-122"/>
                <a:ea typeface="微软雅黑" pitchFamily="34" charset="-122"/>
              </a:rPr>
              <a:t>expression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[</a:t>
            </a:r>
            <a:r>
              <a:rPr lang="en-US" altLang="zh-CN" sz="2000" b="1" i="1" dirty="0">
                <a:latin typeface="微软雅黑" pitchFamily="34" charset="-122"/>
                <a:ea typeface="微软雅黑" pitchFamily="34" charset="-122"/>
              </a:rPr>
              <a:t>alias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],...}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2000" b="1" dirty="0" err="1">
                <a:latin typeface="微软雅黑" pitchFamily="34" charset="-122"/>
                <a:ea typeface="微软雅黑" pitchFamily="34" charset="-122"/>
              </a:rPr>
              <a:t>FROM</a:t>
            </a:r>
            <a:r>
              <a:rPr lang="en-US" altLang="zh-CN" sz="2000" b="1" i="1" dirty="0" err="1">
                <a:latin typeface="微软雅黑" pitchFamily="34" charset="-122"/>
                <a:ea typeface="微软雅黑" pitchFamily="34" charset="-122"/>
              </a:rPr>
              <a:t>table</a:t>
            </a:r>
            <a:r>
              <a:rPr lang="en-US" altLang="zh-CN" sz="2000" b="1" i="1" dirty="0">
                <a:latin typeface="微软雅黑" pitchFamily="34" charset="-122"/>
                <a:ea typeface="微软雅黑" pitchFamily="34" charset="-122"/>
              </a:rPr>
              <a:t>;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54635" y="224479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itchFamily="2" charset="2"/>
              <a:buChar char="u"/>
            </a:pP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SELECT</a:t>
            </a:r>
            <a:r>
              <a:rPr lang="en-US" altLang="zh-CN" dirty="0" smtClean="0"/>
              <a:t>  </a:t>
            </a:r>
            <a:r>
              <a:rPr lang="zh-CN" altLang="en-US" dirty="0" smtClean="0"/>
              <a:t>表示</a:t>
            </a:r>
            <a:r>
              <a:rPr lang="zh-CN" altLang="en-US" dirty="0"/>
              <a:t>要取哪些列 </a:t>
            </a:r>
          </a:p>
          <a:p>
            <a:pPr marL="285750" indent="-285750">
              <a:buFont typeface="Wingdings" pitchFamily="2" charset="2"/>
              <a:buChar char="u"/>
            </a:pP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FROM</a:t>
            </a:r>
            <a:r>
              <a:rPr lang="en-US" altLang="zh-CN" dirty="0" smtClean="0"/>
              <a:t> </a:t>
            </a:r>
            <a:r>
              <a:rPr lang="zh-CN" altLang="en-US" dirty="0"/>
              <a:t>表示要从哪些表中取 </a:t>
            </a:r>
          </a:p>
        </p:txBody>
      </p:sp>
      <p:sp>
        <p:nvSpPr>
          <p:cNvPr id="5" name="矩形 4"/>
          <p:cNvSpPr/>
          <p:nvPr/>
        </p:nvSpPr>
        <p:spPr>
          <a:xfrm>
            <a:off x="788467" y="3103812"/>
            <a:ext cx="77140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dirty="0"/>
          </a:p>
          <a:p>
            <a:r>
              <a:rPr lang="en-US" altLang="zh-CN" b="1" dirty="0"/>
              <a:t>SQL</a:t>
            </a:r>
            <a:r>
              <a:rPr lang="zh-CN" altLang="en-US" dirty="0"/>
              <a:t>语句中的数学表达式：对于数值和日期型字段，可以进行 “加减乘除” 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032" y="4023851"/>
            <a:ext cx="8202486" cy="2549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735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659" y="0"/>
            <a:ext cx="10749367" cy="738231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      </a:t>
            </a:r>
            <a:r>
              <a:rPr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基础</a:t>
            </a:r>
            <a:r>
              <a:rPr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SELECT</a:t>
            </a:r>
            <a:r>
              <a:rPr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语句</a:t>
            </a:r>
            <a:endParaRPr lang="zh-CN" altLang="en-US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2" name="矩形: 圆角 1"/>
          <p:cNvSpPr/>
          <p:nvPr/>
        </p:nvSpPr>
        <p:spPr>
          <a:xfrm rot="2700000">
            <a:off x="220543" y="96253"/>
            <a:ext cx="608141" cy="608141"/>
          </a:xfrm>
          <a:prstGeom prst="roundRect">
            <a:avLst/>
          </a:prstGeom>
          <a:solidFill>
            <a:srgbClr val="D54F2B"/>
          </a:solidFill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60758" y="170135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02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60758" y="1547077"/>
            <a:ext cx="5034573" cy="98263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63251" y="171523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b="1" dirty="0"/>
              <a:t>SELECT *</a:t>
            </a:r>
            <a:endParaRPr lang="en-US" altLang="zh-CN" dirty="0"/>
          </a:p>
          <a:p>
            <a:r>
              <a:rPr lang="en-US" altLang="zh-CN" b="1" dirty="0"/>
              <a:t>FROM departments;</a:t>
            </a:r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60758" y="3300649"/>
            <a:ext cx="5034573" cy="98263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SELECT </a:t>
            </a:r>
            <a:r>
              <a:rPr lang="en-US" altLang="zh-CN" b="1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department_id</a:t>
            </a:r>
            <a:r>
              <a:rPr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en-US" altLang="zh-CN" b="1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location_id</a:t>
            </a:r>
            <a:endParaRPr lang="en-US" altLang="zh-CN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FROM departments;</a:t>
            </a:r>
            <a:endParaRPr lang="zh-CN" altLang="en-US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60757" y="1177745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itchFamily="2" charset="2"/>
              <a:buChar char="u"/>
            </a:pPr>
            <a:r>
              <a:rPr lang="zh-CN" altLang="en-US" dirty="0" smtClean="0"/>
              <a:t> </a:t>
            </a:r>
            <a:r>
              <a:rPr lang="zh-CN" altLang="en-US" b="1" dirty="0" smtClean="0">
                <a:solidFill>
                  <a:srgbClr val="FF0000"/>
                </a:solidFill>
              </a:rPr>
              <a:t>*  </a:t>
            </a:r>
            <a:r>
              <a:rPr lang="zh-CN" altLang="en-US" b="1" dirty="0" smtClean="0"/>
              <a:t>选择</a:t>
            </a:r>
            <a:r>
              <a:rPr lang="zh-CN" altLang="en-US" b="1" dirty="0"/>
              <a:t>全部</a:t>
            </a:r>
            <a:r>
              <a:rPr lang="zh-CN" altLang="en-US" b="1" dirty="0" smtClean="0"/>
              <a:t>列</a:t>
            </a:r>
            <a:endParaRPr lang="zh-CN" altLang="en-US" b="1" dirty="0"/>
          </a:p>
        </p:txBody>
      </p:sp>
      <p:sp>
        <p:nvSpPr>
          <p:cNvPr id="19" name="矩形 18"/>
          <p:cNvSpPr/>
          <p:nvPr/>
        </p:nvSpPr>
        <p:spPr>
          <a:xfrm>
            <a:off x="260758" y="2913281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itchFamily="2" charset="2"/>
              <a:buChar char="u"/>
            </a:pPr>
            <a:r>
              <a:rPr lang="zh-CN" altLang="en-US" dirty="0" smtClean="0"/>
              <a:t> </a:t>
            </a:r>
            <a:r>
              <a:rPr lang="zh-CN" altLang="en-US" b="1" dirty="0" smtClean="0"/>
              <a:t>选择特定列</a:t>
            </a:r>
            <a:endParaRPr lang="zh-CN" altLang="en-US" b="1" dirty="0"/>
          </a:p>
        </p:txBody>
      </p:sp>
      <p:sp>
        <p:nvSpPr>
          <p:cNvPr id="9" name="矩形 8"/>
          <p:cNvSpPr/>
          <p:nvPr/>
        </p:nvSpPr>
        <p:spPr>
          <a:xfrm>
            <a:off x="260758" y="4790070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注意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•SQL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语言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大小写不敏感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•SQL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可以写在一行或者多行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•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关键字不能被缩写也不能分行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•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各子句一般要分行写。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•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使用缩进提高语句的可读性</a:t>
            </a:r>
          </a:p>
        </p:txBody>
      </p:sp>
      <p:sp>
        <p:nvSpPr>
          <p:cNvPr id="10" name="矩形 9"/>
          <p:cNvSpPr/>
          <p:nvPr/>
        </p:nvSpPr>
        <p:spPr>
          <a:xfrm>
            <a:off x="5859439" y="1198543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列的别名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: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•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重命名一个列。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•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便于计算。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•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紧跟列名，也可以在列名和别名之间加入关键字‘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AS’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，  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/>
            </a:r>
            <a:br>
              <a:rPr lang="en-US" altLang="zh-CN" dirty="0" smtClean="0">
                <a:latin typeface="微软雅黑" pitchFamily="34" charset="-122"/>
                <a:ea typeface="微软雅黑" pitchFamily="34" charset="-122"/>
              </a:rPr>
            </a:b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别名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使用双引号，以便在别名中包含空格或特殊的字符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并 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/>
            </a:r>
            <a:br>
              <a:rPr lang="en-US" altLang="zh-CN" dirty="0" smtClean="0">
                <a:latin typeface="微软雅黑" pitchFamily="34" charset="-122"/>
                <a:ea typeface="微软雅黑" pitchFamily="34" charset="-122"/>
              </a:rPr>
            </a:b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区分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大小写。</a:t>
            </a:r>
          </a:p>
        </p:txBody>
      </p:sp>
      <p:sp>
        <p:nvSpPr>
          <p:cNvPr id="22" name="矩形 21"/>
          <p:cNvSpPr/>
          <p:nvPr/>
        </p:nvSpPr>
        <p:spPr>
          <a:xfrm>
            <a:off x="5859439" y="3768084"/>
            <a:ext cx="6096000" cy="98263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SELECT </a:t>
            </a:r>
            <a:r>
              <a:rPr lang="en-US" altLang="zh-CN" b="1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last_name</a:t>
            </a:r>
            <a:r>
              <a:rPr lang="en-US" altLang="zh-CN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AS </a:t>
            </a:r>
            <a:r>
              <a:rPr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name</a:t>
            </a:r>
            <a:r>
              <a:rPr lang="en-US" altLang="zh-CN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en-US" altLang="zh-CN" b="1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commission_pct</a:t>
            </a:r>
            <a:r>
              <a:rPr lang="en-US" altLang="zh-CN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comm</a:t>
            </a:r>
            <a:endParaRPr lang="en-US" altLang="zh-CN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FROM employees;</a:t>
            </a:r>
            <a:endParaRPr lang="zh-CN" altLang="en-US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44157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659" y="0"/>
            <a:ext cx="10749367" cy="738231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      </a:t>
            </a:r>
            <a:r>
              <a:rPr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过滤</a:t>
            </a:r>
            <a:r>
              <a:rPr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/</a:t>
            </a:r>
            <a:r>
              <a:rPr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排序</a:t>
            </a:r>
            <a:r>
              <a:rPr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/</a:t>
            </a:r>
            <a:r>
              <a:rPr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分组</a:t>
            </a:r>
            <a:endParaRPr lang="zh-CN" altLang="en-US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2" name="矩形: 圆角 1"/>
          <p:cNvSpPr/>
          <p:nvPr/>
        </p:nvSpPr>
        <p:spPr>
          <a:xfrm rot="2700000">
            <a:off x="220543" y="96253"/>
            <a:ext cx="608141" cy="608141"/>
          </a:xfrm>
          <a:prstGeom prst="roundRect">
            <a:avLst/>
          </a:prstGeom>
          <a:solidFill>
            <a:srgbClr val="D54F2B"/>
          </a:solidFill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60758" y="170135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03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60757" y="2031407"/>
            <a:ext cx="6010275" cy="98263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 smtClean="0">
                <a:solidFill>
                  <a:schemeClr val="tx1"/>
                </a:solidFill>
              </a:rPr>
              <a:t>SELECT    *|{[</a:t>
            </a:r>
            <a:r>
              <a:rPr lang="en-US" altLang="zh-CN" b="1" dirty="0">
                <a:solidFill>
                  <a:schemeClr val="tx1"/>
                </a:solidFill>
              </a:rPr>
              <a:t>DISTINCT] </a:t>
            </a:r>
            <a:r>
              <a:rPr lang="en-US" altLang="zh-CN" b="1" i="1" dirty="0" err="1">
                <a:solidFill>
                  <a:schemeClr val="tx1"/>
                </a:solidFill>
              </a:rPr>
              <a:t>column|expression</a:t>
            </a:r>
            <a:r>
              <a:rPr lang="en-US" altLang="zh-CN" b="1" dirty="0">
                <a:solidFill>
                  <a:schemeClr val="tx1"/>
                </a:solidFill>
              </a:rPr>
              <a:t>[</a:t>
            </a:r>
            <a:r>
              <a:rPr lang="en-US" altLang="zh-CN" b="1" i="1" dirty="0">
                <a:solidFill>
                  <a:schemeClr val="tx1"/>
                </a:solidFill>
              </a:rPr>
              <a:t>alias</a:t>
            </a:r>
            <a:r>
              <a:rPr lang="en-US" altLang="zh-CN" b="1" dirty="0">
                <a:solidFill>
                  <a:schemeClr val="tx1"/>
                </a:solidFill>
              </a:rPr>
              <a:t>],...}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b="1" dirty="0" smtClean="0">
                <a:solidFill>
                  <a:schemeClr val="tx1"/>
                </a:solidFill>
              </a:rPr>
              <a:t>FROM     </a:t>
            </a:r>
            <a:r>
              <a:rPr lang="en-US" altLang="zh-CN" b="1" i="1" dirty="0" smtClean="0">
                <a:solidFill>
                  <a:schemeClr val="tx1"/>
                </a:solidFill>
              </a:rPr>
              <a:t>table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[</a:t>
            </a:r>
            <a:r>
              <a:rPr lang="en-US" altLang="zh-CN" b="1" dirty="0" smtClean="0">
                <a:solidFill>
                  <a:srgbClr val="FF0000"/>
                </a:solidFill>
              </a:rPr>
              <a:t>WHERE  </a:t>
            </a:r>
            <a:r>
              <a:rPr lang="en-US" altLang="zh-CN" b="1" i="1" dirty="0" smtClean="0">
                <a:solidFill>
                  <a:srgbClr val="FF0000"/>
                </a:solidFill>
              </a:rPr>
              <a:t>condition(s</a:t>
            </a:r>
            <a:r>
              <a:rPr lang="en-US" altLang="zh-CN" b="1" i="1" dirty="0">
                <a:solidFill>
                  <a:srgbClr val="FF0000"/>
                </a:solidFill>
              </a:rPr>
              <a:t>)</a:t>
            </a:r>
            <a:r>
              <a:rPr lang="en-US" altLang="zh-CN" b="1" dirty="0">
                <a:solidFill>
                  <a:srgbClr val="FF0000"/>
                </a:solidFill>
              </a:rPr>
              <a:t>];</a:t>
            </a:r>
            <a:endParaRPr lang="zh-CN" altLang="en-US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71555" y="1559161"/>
            <a:ext cx="46923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使用</a:t>
            </a:r>
            <a:r>
              <a:rPr lang="en-US" altLang="zh-CN" dirty="0"/>
              <a:t>WHERE </a:t>
            </a:r>
            <a:r>
              <a:rPr lang="zh-CN" altLang="en-US" dirty="0"/>
              <a:t>子句，将不满足条件的行过滤掉</a:t>
            </a:r>
          </a:p>
        </p:txBody>
      </p:sp>
      <p:sp>
        <p:nvSpPr>
          <p:cNvPr id="14" name="矩形 13"/>
          <p:cNvSpPr/>
          <p:nvPr/>
        </p:nvSpPr>
        <p:spPr>
          <a:xfrm>
            <a:off x="260758" y="1180015"/>
            <a:ext cx="50345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u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过滤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757" y="3227127"/>
            <a:ext cx="6010275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8066838" y="1189829"/>
            <a:ext cx="13965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itchFamily="2" charset="2"/>
              <a:buChar char="u"/>
            </a:pP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比较运算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6090" y="2031407"/>
            <a:ext cx="4743450" cy="206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矩形 19"/>
          <p:cNvSpPr/>
          <p:nvPr/>
        </p:nvSpPr>
        <p:spPr>
          <a:xfrm>
            <a:off x="6986090" y="4422443"/>
            <a:ext cx="4735160" cy="98263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 smtClean="0">
                <a:solidFill>
                  <a:schemeClr val="tx1"/>
                </a:solidFill>
              </a:rPr>
              <a:t>SELECT </a:t>
            </a:r>
            <a:r>
              <a:rPr lang="en-US" altLang="zh-CN" b="1" dirty="0" err="1">
                <a:solidFill>
                  <a:schemeClr val="tx1"/>
                </a:solidFill>
              </a:rPr>
              <a:t>last_name</a:t>
            </a:r>
            <a:r>
              <a:rPr lang="en-US" altLang="zh-CN" b="1" dirty="0">
                <a:solidFill>
                  <a:schemeClr val="tx1"/>
                </a:solidFill>
              </a:rPr>
              <a:t>, salary FROM employees WHERE salary &lt;= 3000; </a:t>
            </a:r>
            <a:endParaRPr lang="zh-CN" altLang="en-US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5206" y="5615059"/>
            <a:ext cx="6019800" cy="704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78935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659" y="0"/>
            <a:ext cx="10749367" cy="738231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      </a:t>
            </a:r>
            <a:r>
              <a:rPr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过滤</a:t>
            </a:r>
            <a:r>
              <a:rPr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/</a:t>
            </a:r>
            <a:r>
              <a:rPr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排序</a:t>
            </a:r>
            <a:r>
              <a:rPr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/</a:t>
            </a:r>
            <a:r>
              <a:rPr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分组</a:t>
            </a:r>
            <a:endParaRPr lang="zh-CN" altLang="en-US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2" name="矩形: 圆角 1"/>
          <p:cNvSpPr/>
          <p:nvPr/>
        </p:nvSpPr>
        <p:spPr>
          <a:xfrm rot="2700000">
            <a:off x="220543" y="96253"/>
            <a:ext cx="608141" cy="608141"/>
          </a:xfrm>
          <a:prstGeom prst="roundRect">
            <a:avLst/>
          </a:prstGeom>
          <a:solidFill>
            <a:srgbClr val="D54F2B"/>
          </a:solidFill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60758" y="170135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04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60758" y="1180015"/>
            <a:ext cx="50345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u"/>
            </a:pPr>
            <a:r>
              <a:rPr lang="en-US" altLang="zh-CN" b="1" dirty="0"/>
              <a:t>ORDER BY</a:t>
            </a:r>
            <a:r>
              <a:rPr lang="zh-CN" altLang="en-US" dirty="0"/>
              <a:t>子句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60758" y="164523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•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ORDER BY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子句排序</a:t>
            </a:r>
          </a:p>
          <a:p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–</a:t>
            </a:r>
            <a:r>
              <a:rPr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ASC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ascend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: 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升序</a:t>
            </a:r>
          </a:p>
          <a:p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–</a:t>
            </a:r>
            <a:r>
              <a:rPr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DESC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descend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: 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降序</a:t>
            </a:r>
          </a:p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•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ORDER BY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子句在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SELECT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语句的结尾。</a:t>
            </a:r>
          </a:p>
        </p:txBody>
      </p:sp>
      <p:sp>
        <p:nvSpPr>
          <p:cNvPr id="15" name="矩形 14"/>
          <p:cNvSpPr/>
          <p:nvPr/>
        </p:nvSpPr>
        <p:spPr>
          <a:xfrm>
            <a:off x="260758" y="3002507"/>
            <a:ext cx="6010275" cy="116948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SELECT </a:t>
            </a:r>
            <a:r>
              <a:rPr lang="en-US" altLang="zh-CN" b="1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last_name</a:t>
            </a:r>
            <a:r>
              <a:rPr lang="en-US" altLang="zh-CN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en-US" altLang="zh-CN" b="1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job_id</a:t>
            </a:r>
            <a:r>
              <a:rPr lang="en-US" altLang="zh-CN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en-US" altLang="zh-CN" b="1" dirty="0" err="1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department_id,hire_date</a:t>
            </a:r>
            <a:endParaRPr lang="en-US" altLang="zh-CN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FROM employees</a:t>
            </a:r>
            <a:endParaRPr lang="en-US" altLang="zh-CN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ORDER BY </a:t>
            </a:r>
            <a:r>
              <a:rPr lang="en-US" altLang="zh-CN" b="1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hire_date</a:t>
            </a:r>
            <a:r>
              <a:rPr lang="en-US" altLang="zh-CN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;</a:t>
            </a:r>
            <a:endParaRPr lang="zh-CN" altLang="en-US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758" y="4224177"/>
            <a:ext cx="6105525" cy="123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矩形 17"/>
          <p:cNvSpPr/>
          <p:nvPr/>
        </p:nvSpPr>
        <p:spPr>
          <a:xfrm>
            <a:off x="6366283" y="1180015"/>
            <a:ext cx="18496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u"/>
            </a:pP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按别名排序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063331" y="1643284"/>
            <a:ext cx="6010275" cy="116948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 smtClean="0">
                <a:solidFill>
                  <a:schemeClr val="tx1"/>
                </a:solidFill>
              </a:rPr>
              <a:t>SELECT </a:t>
            </a:r>
            <a:r>
              <a:rPr lang="en-US" altLang="zh-CN" b="1" dirty="0" err="1" smtClean="0">
                <a:solidFill>
                  <a:schemeClr val="tx1"/>
                </a:solidFill>
              </a:rPr>
              <a:t>employee_id</a:t>
            </a:r>
            <a:r>
              <a:rPr lang="en-US" altLang="zh-CN" b="1" dirty="0" smtClean="0">
                <a:solidFill>
                  <a:schemeClr val="tx1"/>
                </a:solidFill>
              </a:rPr>
              <a:t>, </a:t>
            </a:r>
            <a:r>
              <a:rPr lang="en-US" altLang="zh-CN" b="1" dirty="0" err="1" smtClean="0">
                <a:solidFill>
                  <a:schemeClr val="tx1"/>
                </a:solidFill>
              </a:rPr>
              <a:t>last_name</a:t>
            </a:r>
            <a:r>
              <a:rPr lang="en-US" altLang="zh-CN" b="1" dirty="0" smtClean="0">
                <a:solidFill>
                  <a:schemeClr val="tx1"/>
                </a:solidFill>
              </a:rPr>
              <a:t>, salary*12 </a:t>
            </a:r>
            <a:r>
              <a:rPr lang="en-US" altLang="zh-CN" b="1" dirty="0" err="1" smtClean="0">
                <a:solidFill>
                  <a:srgbClr val="FF0000"/>
                </a:solidFill>
              </a:rPr>
              <a:t>annsal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en-US" altLang="zh-CN" b="1" dirty="0" smtClean="0">
                <a:solidFill>
                  <a:schemeClr val="tx1"/>
                </a:solidFill>
              </a:rPr>
              <a:t> FROM employees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en-US" altLang="zh-CN" b="1" dirty="0" smtClean="0">
                <a:solidFill>
                  <a:schemeClr val="tx1"/>
                </a:solidFill>
              </a:rPr>
              <a:t>ORDER BY </a:t>
            </a:r>
            <a:r>
              <a:rPr lang="en-US" altLang="zh-CN" b="1" dirty="0" err="1" smtClean="0">
                <a:solidFill>
                  <a:srgbClr val="FF0000"/>
                </a:solidFill>
              </a:rPr>
              <a:t>annsal</a:t>
            </a:r>
            <a:r>
              <a:rPr lang="en-US" altLang="zh-CN" b="1" dirty="0" smtClean="0">
                <a:solidFill>
                  <a:schemeClr val="tx1"/>
                </a:solidFill>
              </a:rPr>
              <a:t>;</a:t>
            </a:r>
            <a:endParaRPr lang="zh-CN" altLang="en-US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1744" y="3002507"/>
            <a:ext cx="5425383" cy="128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矩形 20"/>
          <p:cNvSpPr/>
          <p:nvPr/>
        </p:nvSpPr>
        <p:spPr>
          <a:xfrm>
            <a:off x="6511743" y="5027157"/>
            <a:ext cx="18496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u"/>
            </a:pP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多个列排序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295331" y="5640746"/>
            <a:ext cx="6010275" cy="116948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solidFill>
                  <a:schemeClr val="tx1"/>
                </a:solidFill>
              </a:rPr>
              <a:t>SELECT </a:t>
            </a:r>
            <a:r>
              <a:rPr lang="en-US" altLang="zh-CN" b="1" dirty="0" err="1">
                <a:solidFill>
                  <a:schemeClr val="tx1"/>
                </a:solidFill>
              </a:rPr>
              <a:t>last_name</a:t>
            </a:r>
            <a:r>
              <a:rPr lang="en-US" altLang="zh-CN" b="1" dirty="0">
                <a:solidFill>
                  <a:schemeClr val="tx1"/>
                </a:solidFill>
              </a:rPr>
              <a:t>, </a:t>
            </a:r>
            <a:r>
              <a:rPr lang="en-US" altLang="zh-CN" b="1" dirty="0" err="1">
                <a:solidFill>
                  <a:schemeClr val="tx1"/>
                </a:solidFill>
              </a:rPr>
              <a:t>department_id</a:t>
            </a:r>
            <a:r>
              <a:rPr lang="en-US" altLang="zh-CN" b="1" dirty="0">
                <a:solidFill>
                  <a:schemeClr val="tx1"/>
                </a:solidFill>
              </a:rPr>
              <a:t>, salary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b="1" dirty="0" smtClean="0">
                <a:solidFill>
                  <a:schemeClr val="tx1"/>
                </a:solidFill>
              </a:rPr>
              <a:t>  FROM </a:t>
            </a:r>
            <a:r>
              <a:rPr lang="en-US" altLang="zh-CN" b="1" dirty="0">
                <a:solidFill>
                  <a:schemeClr val="tx1"/>
                </a:solidFill>
              </a:rPr>
              <a:t>employees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b="1" dirty="0" smtClean="0">
                <a:solidFill>
                  <a:schemeClr val="tx1"/>
                </a:solidFill>
              </a:rPr>
              <a:t>  ORDER </a:t>
            </a:r>
            <a:r>
              <a:rPr lang="en-US" altLang="zh-CN" b="1" dirty="0">
                <a:solidFill>
                  <a:schemeClr val="tx1"/>
                </a:solidFill>
              </a:rPr>
              <a:t>BY </a:t>
            </a:r>
            <a:r>
              <a:rPr lang="en-US" altLang="zh-CN" b="1" dirty="0" err="1">
                <a:solidFill>
                  <a:srgbClr val="FF0000"/>
                </a:solidFill>
              </a:rPr>
              <a:t>department_id</a:t>
            </a:r>
            <a:r>
              <a:rPr lang="en-US" altLang="zh-CN" b="1" dirty="0">
                <a:solidFill>
                  <a:srgbClr val="FF0000"/>
                </a:solidFill>
              </a:rPr>
              <a:t>, salary DESC;</a:t>
            </a:r>
            <a:endParaRPr lang="zh-CN" altLang="en-US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7817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659" y="0"/>
            <a:ext cx="10749367" cy="738231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      </a:t>
            </a:r>
            <a:r>
              <a:rPr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过滤</a:t>
            </a:r>
            <a:r>
              <a:rPr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/</a:t>
            </a:r>
            <a:r>
              <a:rPr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排序</a:t>
            </a:r>
            <a:r>
              <a:rPr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/</a:t>
            </a:r>
            <a:r>
              <a:rPr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分组</a:t>
            </a:r>
            <a:endParaRPr lang="zh-CN" altLang="en-US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2" name="矩形: 圆角 1"/>
          <p:cNvSpPr/>
          <p:nvPr/>
        </p:nvSpPr>
        <p:spPr>
          <a:xfrm rot="2700000">
            <a:off x="220543" y="96253"/>
            <a:ext cx="608141" cy="608141"/>
          </a:xfrm>
          <a:prstGeom prst="roundRect">
            <a:avLst/>
          </a:prstGeom>
          <a:solidFill>
            <a:srgbClr val="D54F2B"/>
          </a:solidFill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60758" y="170135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05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60758" y="1180015"/>
            <a:ext cx="50345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u"/>
            </a:pP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非法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使用组函数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60758" y="164523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•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不能在</a:t>
            </a:r>
            <a:r>
              <a:rPr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WHERE 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子句中使用组函数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•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可以在</a:t>
            </a:r>
            <a:r>
              <a:rPr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HAVING 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子句中使用组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函数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60759" y="2475957"/>
            <a:ext cx="5239290" cy="116948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/>
              <a:t>SELECT </a:t>
            </a:r>
            <a:r>
              <a:rPr lang="en-US" altLang="zh-CN" b="1" dirty="0" err="1"/>
              <a:t>department_id</a:t>
            </a:r>
            <a:r>
              <a:rPr lang="en-US" altLang="zh-CN" b="1" dirty="0"/>
              <a:t>, AVG(salary)</a:t>
            </a:r>
            <a:endParaRPr lang="en-US" altLang="zh-CN" dirty="0"/>
          </a:p>
          <a:p>
            <a:r>
              <a:rPr lang="en-US" altLang="zh-CN" b="1" dirty="0"/>
              <a:t>FROM employees</a:t>
            </a:r>
            <a:endParaRPr lang="en-US" altLang="zh-CN" dirty="0"/>
          </a:p>
          <a:p>
            <a:r>
              <a:rPr lang="en-US" altLang="zh-CN" b="1" dirty="0"/>
              <a:t>WHERE AVG(salary) &gt; 8000</a:t>
            </a:r>
            <a:endParaRPr lang="en-US" altLang="zh-CN" dirty="0"/>
          </a:p>
          <a:p>
            <a:r>
              <a:rPr lang="en-US" altLang="zh-CN" b="1" dirty="0"/>
              <a:t>GROUP BY </a:t>
            </a:r>
            <a:r>
              <a:rPr lang="en-US" altLang="zh-CN" b="1" dirty="0" err="1"/>
              <a:t>department_id</a:t>
            </a:r>
            <a:r>
              <a:rPr lang="en-US" altLang="zh-CN" b="1" dirty="0"/>
              <a:t>;</a:t>
            </a:r>
            <a:endParaRPr lang="zh-CN" altLang="en-US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366283" y="1180015"/>
            <a:ext cx="38422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u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过滤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分组：</a:t>
            </a: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HAVING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子句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063330" y="3703638"/>
            <a:ext cx="6010275" cy="228772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 smtClean="0"/>
              <a:t>SELECT       </a:t>
            </a:r>
            <a:r>
              <a:rPr lang="en-US" altLang="zh-CN" b="1" i="1" dirty="0" smtClean="0"/>
              <a:t>column</a:t>
            </a:r>
            <a:r>
              <a:rPr lang="en-US" altLang="zh-CN" b="1" dirty="0"/>
              <a:t>, </a:t>
            </a:r>
            <a:r>
              <a:rPr lang="en-US" altLang="zh-CN" b="1" i="1" dirty="0" err="1"/>
              <a:t>group_function</a:t>
            </a:r>
            <a:endParaRPr lang="en-US" altLang="zh-CN" dirty="0"/>
          </a:p>
          <a:p>
            <a:r>
              <a:rPr lang="en-US" altLang="zh-CN" b="1" dirty="0" smtClean="0"/>
              <a:t>FROM         </a:t>
            </a:r>
            <a:r>
              <a:rPr lang="en-US" altLang="zh-CN" b="1" i="1" dirty="0" smtClean="0"/>
              <a:t>table</a:t>
            </a:r>
            <a:endParaRPr lang="en-US" altLang="zh-CN" dirty="0"/>
          </a:p>
          <a:p>
            <a:r>
              <a:rPr lang="en-US" altLang="zh-CN" b="1" dirty="0"/>
              <a:t>[</a:t>
            </a:r>
            <a:r>
              <a:rPr lang="en-US" altLang="zh-CN" b="1" dirty="0" smtClean="0"/>
              <a:t>WHERE      </a:t>
            </a:r>
            <a:r>
              <a:rPr lang="en-US" altLang="zh-CN" b="1" i="1" dirty="0" smtClean="0"/>
              <a:t>condition</a:t>
            </a:r>
            <a:r>
              <a:rPr lang="en-US" altLang="zh-CN" b="1" dirty="0"/>
              <a:t>]</a:t>
            </a:r>
            <a:endParaRPr lang="en-US" altLang="zh-CN" dirty="0"/>
          </a:p>
          <a:p>
            <a:r>
              <a:rPr lang="en-US" altLang="zh-CN" b="1" dirty="0"/>
              <a:t>[GROUP </a:t>
            </a:r>
            <a:r>
              <a:rPr lang="en-US" altLang="zh-CN" b="1" dirty="0" smtClean="0"/>
              <a:t>BY </a:t>
            </a:r>
            <a:r>
              <a:rPr lang="en-US" altLang="zh-CN" b="1" i="1" dirty="0" err="1" smtClean="0"/>
              <a:t>group_by_expression</a:t>
            </a:r>
            <a:r>
              <a:rPr lang="en-US" altLang="zh-CN" b="1" dirty="0"/>
              <a:t>]</a:t>
            </a:r>
            <a:endParaRPr lang="en-US" altLang="zh-CN" dirty="0"/>
          </a:p>
          <a:p>
            <a:r>
              <a:rPr lang="en-US" altLang="zh-CN" b="1" dirty="0"/>
              <a:t>[</a:t>
            </a:r>
            <a:r>
              <a:rPr lang="en-US" altLang="zh-CN" b="1" dirty="0" smtClean="0"/>
              <a:t>HAVING     </a:t>
            </a:r>
            <a:r>
              <a:rPr lang="en-US" altLang="zh-CN" b="1" i="1" dirty="0" err="1" smtClean="0"/>
              <a:t>group_condition</a:t>
            </a:r>
            <a:r>
              <a:rPr lang="en-US" altLang="zh-CN" b="1" dirty="0"/>
              <a:t>]</a:t>
            </a:r>
            <a:endParaRPr lang="en-US" altLang="zh-CN" dirty="0"/>
          </a:p>
          <a:p>
            <a:r>
              <a:rPr lang="en-US" altLang="zh-CN" b="1" dirty="0"/>
              <a:t>[ORDER </a:t>
            </a:r>
            <a:r>
              <a:rPr lang="en-US" altLang="zh-CN" b="1" dirty="0" smtClean="0"/>
              <a:t>BY  </a:t>
            </a:r>
            <a:r>
              <a:rPr lang="en-US" altLang="zh-CN" b="1" i="1" dirty="0" smtClean="0"/>
              <a:t>column</a:t>
            </a:r>
            <a:r>
              <a:rPr lang="en-US" altLang="zh-CN" b="1" dirty="0"/>
              <a:t>];</a:t>
            </a:r>
            <a:endParaRPr lang="zh-CN" altLang="en-US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60758" y="3862317"/>
            <a:ext cx="5239290" cy="132597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/>
              <a:t>WHERE AVG(salary) &gt; 8000</a:t>
            </a:r>
            <a:endParaRPr lang="en-US" altLang="zh-CN" dirty="0"/>
          </a:p>
          <a:p>
            <a:r>
              <a:rPr lang="zh-CN" altLang="en-US" b="1" dirty="0"/>
              <a:t>*</a:t>
            </a:r>
            <a:endParaRPr lang="zh-CN" altLang="en-US" dirty="0"/>
          </a:p>
          <a:p>
            <a:r>
              <a:rPr lang="en-US" altLang="zh-CN" b="1" dirty="0"/>
              <a:t>ERROR at line 3:</a:t>
            </a:r>
            <a:endParaRPr lang="en-US" altLang="zh-CN" dirty="0"/>
          </a:p>
          <a:p>
            <a:r>
              <a:rPr lang="en-US" altLang="zh-CN" b="1" dirty="0"/>
              <a:t>ORA-00934: group function is not allowed here</a:t>
            </a:r>
            <a:endParaRPr lang="zh-CN" altLang="en-US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60759" y="5434442"/>
            <a:ext cx="3363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WHERE </a:t>
            </a:r>
            <a:r>
              <a:rPr lang="zh-CN" altLang="en-US" dirty="0"/>
              <a:t>子句中不能使用组函数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511742" y="1691396"/>
            <a:ext cx="479386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使用</a:t>
            </a:r>
            <a:r>
              <a:rPr lang="en-US" altLang="zh-CN" dirty="0"/>
              <a:t>HAVING </a:t>
            </a:r>
            <a:r>
              <a:rPr lang="zh-CN" altLang="en-US" dirty="0"/>
              <a:t>过滤分组</a:t>
            </a:r>
            <a:r>
              <a:rPr lang="en-US" altLang="zh-CN" dirty="0"/>
              <a:t>:</a:t>
            </a:r>
          </a:p>
          <a:p>
            <a:pPr marL="285750" indent="-285750">
              <a:buFont typeface="Wingdings" pitchFamily="2" charset="2"/>
              <a:buChar char="u"/>
            </a:pPr>
            <a:r>
              <a:rPr lang="zh-CN" altLang="en-US" dirty="0" smtClean="0"/>
              <a:t>行</a:t>
            </a:r>
            <a:r>
              <a:rPr lang="zh-CN" altLang="en-US" dirty="0"/>
              <a:t>已经被分组。</a:t>
            </a:r>
          </a:p>
          <a:p>
            <a:pPr marL="285750" indent="-285750">
              <a:buFont typeface="Wingdings" pitchFamily="2" charset="2"/>
              <a:buChar char="u"/>
            </a:pPr>
            <a:r>
              <a:rPr lang="zh-CN" altLang="en-US" dirty="0" smtClean="0"/>
              <a:t>使用</a:t>
            </a:r>
            <a:r>
              <a:rPr lang="zh-CN" altLang="en-US" dirty="0"/>
              <a:t>了组函数。</a:t>
            </a:r>
          </a:p>
          <a:p>
            <a:pPr marL="285750" indent="-285750">
              <a:buFont typeface="Wingdings" pitchFamily="2" charset="2"/>
              <a:buChar char="u"/>
            </a:pPr>
            <a:r>
              <a:rPr lang="zh-CN" altLang="en-US" dirty="0" smtClean="0"/>
              <a:t>满足</a:t>
            </a:r>
            <a:r>
              <a:rPr lang="en-US" altLang="zh-CN" dirty="0"/>
              <a:t>HAVING </a:t>
            </a:r>
            <a:r>
              <a:rPr lang="zh-CN" altLang="en-US" dirty="0"/>
              <a:t>子句中条件的分组将被显示。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7997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659" y="0"/>
            <a:ext cx="10749367" cy="738231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      </a:t>
            </a:r>
            <a:r>
              <a:rPr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过滤</a:t>
            </a:r>
            <a:r>
              <a:rPr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/</a:t>
            </a:r>
            <a:r>
              <a:rPr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排序</a:t>
            </a:r>
            <a:r>
              <a:rPr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/</a:t>
            </a:r>
            <a:r>
              <a:rPr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分组</a:t>
            </a:r>
            <a:endParaRPr lang="zh-CN" altLang="en-US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2" name="矩形: 圆角 1"/>
          <p:cNvSpPr/>
          <p:nvPr/>
        </p:nvSpPr>
        <p:spPr>
          <a:xfrm rot="2700000">
            <a:off x="220543" y="96253"/>
            <a:ext cx="608141" cy="608141"/>
          </a:xfrm>
          <a:prstGeom prst="roundRect">
            <a:avLst/>
          </a:prstGeom>
          <a:solidFill>
            <a:srgbClr val="D54F2B"/>
          </a:solidFill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60758" y="170135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06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60758" y="1180015"/>
            <a:ext cx="50345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u"/>
            </a:pP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非法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使用组函数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60758" y="164523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•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不能在</a:t>
            </a:r>
            <a:r>
              <a:rPr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WHERE 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子句中使用组函数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•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可以在</a:t>
            </a:r>
            <a:r>
              <a:rPr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HAVING 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子句中使用组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函数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60759" y="2475957"/>
            <a:ext cx="5239290" cy="116948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/>
              <a:t>SELECT </a:t>
            </a:r>
            <a:r>
              <a:rPr lang="en-US" altLang="zh-CN" b="1" dirty="0" err="1"/>
              <a:t>department_id</a:t>
            </a:r>
            <a:r>
              <a:rPr lang="en-US" altLang="zh-CN" b="1" dirty="0"/>
              <a:t>, AVG(salary)</a:t>
            </a:r>
            <a:endParaRPr lang="en-US" altLang="zh-CN" dirty="0"/>
          </a:p>
          <a:p>
            <a:r>
              <a:rPr lang="en-US" altLang="zh-CN" b="1" dirty="0"/>
              <a:t>FROM employees</a:t>
            </a:r>
            <a:endParaRPr lang="en-US" altLang="zh-CN" dirty="0"/>
          </a:p>
          <a:p>
            <a:r>
              <a:rPr lang="en-US" altLang="zh-CN" b="1" dirty="0"/>
              <a:t>WHERE AVG(salary) &gt; 8000</a:t>
            </a:r>
            <a:endParaRPr lang="en-US" altLang="zh-CN" dirty="0"/>
          </a:p>
          <a:p>
            <a:r>
              <a:rPr lang="en-US" altLang="zh-CN" b="1" dirty="0"/>
              <a:t>GROUP BY </a:t>
            </a:r>
            <a:r>
              <a:rPr lang="en-US" altLang="zh-CN" b="1" dirty="0" err="1"/>
              <a:t>department_id</a:t>
            </a:r>
            <a:r>
              <a:rPr lang="en-US" altLang="zh-CN" b="1" dirty="0"/>
              <a:t>;</a:t>
            </a:r>
            <a:endParaRPr lang="zh-CN" altLang="en-US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366283" y="1180015"/>
            <a:ext cx="38422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u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过滤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分组：</a:t>
            </a: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HAVING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子句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063330" y="3703638"/>
            <a:ext cx="6010275" cy="228772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 smtClean="0"/>
              <a:t>SELECT       </a:t>
            </a:r>
            <a:r>
              <a:rPr lang="en-US" altLang="zh-CN" b="1" i="1" dirty="0" smtClean="0"/>
              <a:t>column</a:t>
            </a:r>
            <a:r>
              <a:rPr lang="en-US" altLang="zh-CN" b="1" dirty="0"/>
              <a:t>, </a:t>
            </a:r>
            <a:r>
              <a:rPr lang="en-US" altLang="zh-CN" b="1" i="1" dirty="0" err="1"/>
              <a:t>group_function</a:t>
            </a:r>
            <a:endParaRPr lang="en-US" altLang="zh-CN" dirty="0"/>
          </a:p>
          <a:p>
            <a:r>
              <a:rPr lang="en-US" altLang="zh-CN" b="1" dirty="0" smtClean="0"/>
              <a:t>FROM         </a:t>
            </a:r>
            <a:r>
              <a:rPr lang="en-US" altLang="zh-CN" b="1" i="1" dirty="0" smtClean="0"/>
              <a:t>table</a:t>
            </a:r>
            <a:endParaRPr lang="en-US" altLang="zh-CN" dirty="0"/>
          </a:p>
          <a:p>
            <a:r>
              <a:rPr lang="en-US" altLang="zh-CN" b="1" dirty="0"/>
              <a:t>[</a:t>
            </a:r>
            <a:r>
              <a:rPr lang="en-US" altLang="zh-CN" b="1" dirty="0" smtClean="0"/>
              <a:t>WHERE      </a:t>
            </a:r>
            <a:r>
              <a:rPr lang="en-US" altLang="zh-CN" b="1" i="1" dirty="0" smtClean="0"/>
              <a:t>condition</a:t>
            </a:r>
            <a:r>
              <a:rPr lang="en-US" altLang="zh-CN" b="1" dirty="0"/>
              <a:t>]</a:t>
            </a:r>
            <a:endParaRPr lang="en-US" altLang="zh-CN" dirty="0"/>
          </a:p>
          <a:p>
            <a:r>
              <a:rPr lang="en-US" altLang="zh-CN" b="1" dirty="0"/>
              <a:t>[GROUP </a:t>
            </a:r>
            <a:r>
              <a:rPr lang="en-US" altLang="zh-CN" b="1" dirty="0" smtClean="0"/>
              <a:t>BY </a:t>
            </a:r>
            <a:r>
              <a:rPr lang="en-US" altLang="zh-CN" b="1" i="1" dirty="0" err="1" smtClean="0"/>
              <a:t>group_by_expression</a:t>
            </a:r>
            <a:r>
              <a:rPr lang="en-US" altLang="zh-CN" b="1" dirty="0"/>
              <a:t>]</a:t>
            </a:r>
            <a:endParaRPr lang="en-US" altLang="zh-CN" dirty="0"/>
          </a:p>
          <a:p>
            <a:r>
              <a:rPr lang="en-US" altLang="zh-CN" b="1" dirty="0"/>
              <a:t>[</a:t>
            </a:r>
            <a:r>
              <a:rPr lang="en-US" altLang="zh-CN" b="1" dirty="0" smtClean="0"/>
              <a:t>HAVING     </a:t>
            </a:r>
            <a:r>
              <a:rPr lang="en-US" altLang="zh-CN" b="1" i="1" dirty="0" err="1" smtClean="0"/>
              <a:t>group_condition</a:t>
            </a:r>
            <a:r>
              <a:rPr lang="en-US" altLang="zh-CN" b="1" dirty="0"/>
              <a:t>]</a:t>
            </a:r>
            <a:endParaRPr lang="en-US" altLang="zh-CN" dirty="0"/>
          </a:p>
          <a:p>
            <a:r>
              <a:rPr lang="en-US" altLang="zh-CN" b="1" dirty="0"/>
              <a:t>[ORDER </a:t>
            </a:r>
            <a:r>
              <a:rPr lang="en-US" altLang="zh-CN" b="1" dirty="0" smtClean="0"/>
              <a:t>BY  </a:t>
            </a:r>
            <a:r>
              <a:rPr lang="en-US" altLang="zh-CN" b="1" i="1" dirty="0" smtClean="0"/>
              <a:t>column</a:t>
            </a:r>
            <a:r>
              <a:rPr lang="en-US" altLang="zh-CN" b="1" dirty="0"/>
              <a:t>];</a:t>
            </a:r>
            <a:endParaRPr lang="zh-CN" altLang="en-US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60758" y="3862317"/>
            <a:ext cx="5239290" cy="132597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/>
              <a:t>WHERE AVG(salary) &gt; 8000</a:t>
            </a:r>
            <a:endParaRPr lang="en-US" altLang="zh-CN" dirty="0"/>
          </a:p>
          <a:p>
            <a:r>
              <a:rPr lang="zh-CN" altLang="en-US" b="1" dirty="0"/>
              <a:t>*</a:t>
            </a:r>
            <a:endParaRPr lang="zh-CN" altLang="en-US" dirty="0"/>
          </a:p>
          <a:p>
            <a:r>
              <a:rPr lang="en-US" altLang="zh-CN" b="1" dirty="0"/>
              <a:t>ERROR at line 3:</a:t>
            </a:r>
            <a:endParaRPr lang="en-US" altLang="zh-CN" dirty="0"/>
          </a:p>
          <a:p>
            <a:r>
              <a:rPr lang="en-US" altLang="zh-CN" b="1" dirty="0"/>
              <a:t>ORA-00934: group function is not allowed here</a:t>
            </a:r>
            <a:endParaRPr lang="zh-CN" altLang="en-US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60759" y="5434442"/>
            <a:ext cx="3363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WHERE </a:t>
            </a:r>
            <a:r>
              <a:rPr lang="zh-CN" altLang="en-US" dirty="0"/>
              <a:t>子句中不能使用组函数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511742" y="1691396"/>
            <a:ext cx="479386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使用</a:t>
            </a:r>
            <a:r>
              <a:rPr lang="en-US" altLang="zh-CN" dirty="0"/>
              <a:t>HAVING </a:t>
            </a:r>
            <a:r>
              <a:rPr lang="zh-CN" altLang="en-US" dirty="0"/>
              <a:t>过滤分组</a:t>
            </a:r>
            <a:r>
              <a:rPr lang="en-US" altLang="zh-CN" dirty="0"/>
              <a:t>:</a:t>
            </a:r>
          </a:p>
          <a:p>
            <a:pPr marL="285750" indent="-285750">
              <a:buFont typeface="Wingdings" pitchFamily="2" charset="2"/>
              <a:buChar char="u"/>
            </a:pPr>
            <a:r>
              <a:rPr lang="zh-CN" altLang="en-US" dirty="0" smtClean="0"/>
              <a:t>行</a:t>
            </a:r>
            <a:r>
              <a:rPr lang="zh-CN" altLang="en-US" dirty="0"/>
              <a:t>已经被分组。</a:t>
            </a:r>
          </a:p>
          <a:p>
            <a:pPr marL="285750" indent="-285750">
              <a:buFont typeface="Wingdings" pitchFamily="2" charset="2"/>
              <a:buChar char="u"/>
            </a:pPr>
            <a:r>
              <a:rPr lang="zh-CN" altLang="en-US" dirty="0" smtClean="0"/>
              <a:t>使用</a:t>
            </a:r>
            <a:r>
              <a:rPr lang="zh-CN" altLang="en-US" dirty="0"/>
              <a:t>了组函数。</a:t>
            </a:r>
          </a:p>
          <a:p>
            <a:pPr marL="285750" indent="-285750">
              <a:buFont typeface="Wingdings" pitchFamily="2" charset="2"/>
              <a:buChar char="u"/>
            </a:pPr>
            <a:r>
              <a:rPr lang="zh-CN" altLang="en-US" dirty="0" smtClean="0"/>
              <a:t>满足</a:t>
            </a:r>
            <a:r>
              <a:rPr lang="en-US" altLang="zh-CN" dirty="0"/>
              <a:t>HAVING </a:t>
            </a:r>
            <a:r>
              <a:rPr lang="zh-CN" altLang="en-US" dirty="0"/>
              <a:t>子句中条件的分组将被显示。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55072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659" y="0"/>
            <a:ext cx="10749367" cy="738231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   常见函数</a:t>
            </a:r>
            <a:endParaRPr lang="zh-CN" altLang="en-US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0774" y="830345"/>
            <a:ext cx="9554142" cy="556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86594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659" y="0"/>
            <a:ext cx="10749367" cy="738231"/>
          </a:xfrm>
        </p:spPr>
        <p:txBody>
          <a:bodyPr>
            <a:normAutofit/>
          </a:bodyPr>
          <a:lstStyle/>
          <a:p>
            <a:r>
              <a:rPr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      </a:t>
            </a:r>
            <a:r>
              <a:rPr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常见函数</a:t>
            </a:r>
            <a:endParaRPr lang="zh-CN" altLang="en-US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2" name="矩形: 圆角 1"/>
          <p:cNvSpPr/>
          <p:nvPr/>
        </p:nvSpPr>
        <p:spPr>
          <a:xfrm rot="2700000">
            <a:off x="220543" y="96253"/>
            <a:ext cx="608141" cy="608141"/>
          </a:xfrm>
          <a:prstGeom prst="roundRect">
            <a:avLst/>
          </a:prstGeom>
          <a:solidFill>
            <a:srgbClr val="D54F2B"/>
          </a:solidFill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60758" y="170135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01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60758" y="1180015"/>
            <a:ext cx="50345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u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大小写控制函数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60758" y="1645230"/>
            <a:ext cx="31921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•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这类函数改变字符的大小写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366283" y="1180015"/>
            <a:ext cx="38422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u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字符控制函数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759" y="2125957"/>
            <a:ext cx="5551624" cy="128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矩形 16"/>
          <p:cNvSpPr/>
          <p:nvPr/>
        </p:nvSpPr>
        <p:spPr>
          <a:xfrm>
            <a:off x="6366283" y="1629140"/>
            <a:ext cx="31921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•</a:t>
            </a:r>
            <a:r>
              <a:rPr lang="zh-CN" altLang="en-US" dirty="0"/>
              <a:t>这类函数控制字符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2383" y="2383880"/>
            <a:ext cx="6210300" cy="340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45670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659" y="0"/>
            <a:ext cx="10749367" cy="738231"/>
          </a:xfrm>
        </p:spPr>
        <p:txBody>
          <a:bodyPr>
            <a:normAutofit/>
          </a:bodyPr>
          <a:lstStyle/>
          <a:p>
            <a:r>
              <a:rPr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      </a:t>
            </a:r>
            <a:r>
              <a:rPr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数字函数</a:t>
            </a:r>
            <a:endParaRPr lang="zh-CN" altLang="en-US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2" name="矩形: 圆角 1"/>
          <p:cNvSpPr/>
          <p:nvPr/>
        </p:nvSpPr>
        <p:spPr>
          <a:xfrm rot="2700000">
            <a:off x="220543" y="96253"/>
            <a:ext cx="608141" cy="608141"/>
          </a:xfrm>
          <a:prstGeom prst="roundRect">
            <a:avLst/>
          </a:prstGeom>
          <a:solidFill>
            <a:srgbClr val="D54F2B"/>
          </a:solidFill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60758" y="170135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02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60759" y="1180015"/>
            <a:ext cx="25172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u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数字函数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758" y="1791410"/>
            <a:ext cx="5419725" cy="283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矩形 14"/>
          <p:cNvSpPr/>
          <p:nvPr/>
        </p:nvSpPr>
        <p:spPr>
          <a:xfrm>
            <a:off x="7414461" y="1180015"/>
            <a:ext cx="25172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u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日期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函数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8920" y="1791410"/>
            <a:ext cx="6263079" cy="2695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7582" y="4486985"/>
            <a:ext cx="3175143" cy="22912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12525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659" y="0"/>
            <a:ext cx="10749367" cy="738231"/>
          </a:xfrm>
        </p:spPr>
        <p:txBody>
          <a:bodyPr>
            <a:normAutofit/>
          </a:bodyPr>
          <a:lstStyle/>
          <a:p>
            <a:r>
              <a:rPr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   </a:t>
            </a:r>
            <a:r>
              <a:rPr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条件表达式</a:t>
            </a:r>
            <a:endParaRPr lang="zh-CN" altLang="en-US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60759" y="1180015"/>
            <a:ext cx="25172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u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条件表达式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73039" y="169809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•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在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SQL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语句中使用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IF-THEN-ELSE 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逻辑 使用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方法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:</a:t>
            </a:r>
          </a:p>
          <a:p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–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CASE 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表达式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759" y="2535924"/>
            <a:ext cx="6238875" cy="148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307875" y="4250436"/>
            <a:ext cx="38587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下面是使用</a:t>
            </a:r>
            <a:r>
              <a:rPr lang="en-US" altLang="zh-CN" dirty="0"/>
              <a:t>case</a:t>
            </a:r>
            <a:r>
              <a:rPr lang="zh-CN" altLang="en-US" dirty="0"/>
              <a:t>表达式的一个例子：</a:t>
            </a:r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307875" y="4733662"/>
            <a:ext cx="6529653" cy="199468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/>
              <a:t>SELECT </a:t>
            </a:r>
            <a:r>
              <a:rPr lang="en-US" altLang="zh-CN" b="1" dirty="0" err="1"/>
              <a:t>last_name</a:t>
            </a:r>
            <a:r>
              <a:rPr lang="en-US" altLang="zh-CN" b="1" dirty="0"/>
              <a:t>, </a:t>
            </a:r>
            <a:r>
              <a:rPr lang="en-US" altLang="zh-CN" b="1" dirty="0" smtClean="0"/>
              <a:t> </a:t>
            </a:r>
            <a:r>
              <a:rPr lang="en-US" altLang="zh-CN" b="1" dirty="0" err="1" smtClean="0"/>
              <a:t>job_id</a:t>
            </a:r>
            <a:r>
              <a:rPr lang="en-US" altLang="zh-CN" b="1" dirty="0"/>
              <a:t>, </a:t>
            </a:r>
            <a:r>
              <a:rPr lang="en-US" altLang="zh-CN" b="1" dirty="0" smtClean="0"/>
              <a:t> salary</a:t>
            </a:r>
            <a:r>
              <a:rPr lang="en-US" altLang="zh-CN" b="1" dirty="0"/>
              <a:t>,</a:t>
            </a:r>
            <a:endParaRPr lang="en-US" altLang="zh-CN" dirty="0"/>
          </a:p>
          <a:p>
            <a:r>
              <a:rPr lang="en-US" altLang="zh-CN" b="1" dirty="0" smtClean="0"/>
              <a:t>    CASE   </a:t>
            </a:r>
            <a:r>
              <a:rPr lang="en-US" altLang="zh-CN" b="1" dirty="0" err="1" smtClean="0"/>
              <a:t>job_id</a:t>
            </a:r>
            <a:r>
              <a:rPr lang="en-US" altLang="zh-CN" b="1" dirty="0" smtClean="0"/>
              <a:t>   WHEN  'IT_PROG‘  THEN 1.10*salary</a:t>
            </a:r>
            <a:endParaRPr lang="en-US" altLang="zh-CN" dirty="0"/>
          </a:p>
          <a:p>
            <a:r>
              <a:rPr lang="en-US" altLang="zh-CN" b="1" dirty="0" smtClean="0"/>
              <a:t>                             WHEN  'ST_CLERK</a:t>
            </a:r>
            <a:r>
              <a:rPr lang="en-US" altLang="zh-CN" b="1" dirty="0"/>
              <a:t>' </a:t>
            </a:r>
            <a:r>
              <a:rPr lang="en-US" altLang="zh-CN" b="1" dirty="0" smtClean="0"/>
              <a:t>THEN 1.15*salary</a:t>
            </a:r>
            <a:endParaRPr lang="en-US" altLang="zh-CN" dirty="0"/>
          </a:p>
          <a:p>
            <a:r>
              <a:rPr lang="en-US" altLang="zh-CN" b="1" dirty="0" smtClean="0"/>
              <a:t>                             WHEN  'SA_REP</a:t>
            </a:r>
            <a:r>
              <a:rPr lang="en-US" altLang="zh-CN" b="1" dirty="0"/>
              <a:t>' </a:t>
            </a:r>
            <a:r>
              <a:rPr lang="en-US" altLang="zh-CN" b="1" dirty="0" smtClean="0"/>
              <a:t>THEN  1.20*salary</a:t>
            </a:r>
            <a:endParaRPr lang="en-US" altLang="zh-CN" dirty="0"/>
          </a:p>
          <a:p>
            <a:r>
              <a:rPr lang="en-US" altLang="zh-CN" b="1" dirty="0" smtClean="0"/>
              <a:t>     ELSE  salary    END  "REVISED_SALARY</a:t>
            </a:r>
            <a:r>
              <a:rPr lang="en-US" altLang="zh-CN" b="1" dirty="0"/>
              <a:t>"</a:t>
            </a:r>
            <a:endParaRPr lang="en-US" altLang="zh-CN" dirty="0"/>
          </a:p>
          <a:p>
            <a:r>
              <a:rPr lang="en-US" altLang="zh-CN" b="1" dirty="0"/>
              <a:t>FROM employees;</a:t>
            </a:r>
            <a:endParaRPr lang="zh-CN" altLang="en-US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0373" y="4988053"/>
            <a:ext cx="4650475" cy="148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41443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659" y="0"/>
            <a:ext cx="10749367" cy="738231"/>
          </a:xfrm>
        </p:spPr>
        <p:txBody>
          <a:bodyPr>
            <a:normAutofit/>
          </a:bodyPr>
          <a:lstStyle/>
          <a:p>
            <a:r>
              <a:rPr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   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数据</a:t>
            </a:r>
            <a:r>
              <a:rPr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增删改</a:t>
            </a:r>
            <a:endParaRPr lang="zh-CN" altLang="en-US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60759" y="1180015"/>
            <a:ext cx="25172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u"/>
            </a:pP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插入数据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73039" y="1698093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•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为每一列添加一个新值。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•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按列的默认顺序列出各个列的值。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•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在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INSERT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子句中随意列出列名和他们的值。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•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字符和日期型数据应包含在单引号中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38" y="3049919"/>
            <a:ext cx="6551613" cy="2505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矩形 9"/>
          <p:cNvSpPr/>
          <p:nvPr/>
        </p:nvSpPr>
        <p:spPr>
          <a:xfrm>
            <a:off x="7550938" y="1199433"/>
            <a:ext cx="25172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u"/>
            </a:pP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插入空值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676505" y="1698093"/>
            <a:ext cx="4175695" cy="25853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•</a:t>
            </a:r>
            <a:r>
              <a:rPr lang="zh-CN" altLang="en-US" dirty="0"/>
              <a:t>隐式方式</a:t>
            </a:r>
            <a:r>
              <a:rPr lang="en-US" altLang="zh-CN" dirty="0"/>
              <a:t>: </a:t>
            </a:r>
            <a:r>
              <a:rPr lang="zh-CN" altLang="en-US" dirty="0"/>
              <a:t>在列名表中省略该列的</a:t>
            </a:r>
            <a:r>
              <a:rPr lang="zh-CN" altLang="en-US" dirty="0" smtClean="0"/>
              <a:t>值。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/>
              <a:t>•</a:t>
            </a:r>
            <a:r>
              <a:rPr lang="zh-CN" altLang="en-US" dirty="0"/>
              <a:t>显示方式</a:t>
            </a:r>
            <a:r>
              <a:rPr lang="en-US" altLang="zh-CN" dirty="0"/>
              <a:t>: </a:t>
            </a:r>
            <a:r>
              <a:rPr lang="zh-CN" altLang="en-US" dirty="0"/>
              <a:t>在</a:t>
            </a:r>
            <a:r>
              <a:rPr lang="en-US" altLang="zh-CN" dirty="0"/>
              <a:t>VALUES</a:t>
            </a:r>
            <a:r>
              <a:rPr lang="zh-CN" altLang="en-US" dirty="0"/>
              <a:t>子句中指定空值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4131" y="2102110"/>
            <a:ext cx="5067869" cy="115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4130" y="4656374"/>
            <a:ext cx="4728069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4093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659" y="0"/>
            <a:ext cx="10749367" cy="738231"/>
          </a:xfrm>
        </p:spPr>
        <p:txBody>
          <a:bodyPr>
            <a:normAutofit/>
          </a:bodyPr>
          <a:lstStyle/>
          <a:p>
            <a:r>
              <a:rPr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   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数据</a:t>
            </a:r>
            <a:r>
              <a:rPr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增删改</a:t>
            </a:r>
            <a:endParaRPr lang="zh-CN" altLang="en-US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60759" y="1180015"/>
            <a:ext cx="25172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u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从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其他表中拷数据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73039" y="169809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•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在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INSERT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语句中加入子查询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•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不必书写</a:t>
            </a:r>
            <a:r>
              <a:rPr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VALUES 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子句。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•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子查询中的值列表应与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INSERT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子句中的列名对应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39" y="2802624"/>
            <a:ext cx="6694487" cy="278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3379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659" y="0"/>
            <a:ext cx="10749367" cy="738231"/>
          </a:xfrm>
        </p:spPr>
        <p:txBody>
          <a:bodyPr>
            <a:normAutofit/>
          </a:bodyPr>
          <a:lstStyle/>
          <a:p>
            <a:r>
              <a:rPr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   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数据</a:t>
            </a:r>
            <a:r>
              <a:rPr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增删改</a:t>
            </a:r>
            <a:endParaRPr lang="zh-CN" altLang="en-US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60759" y="1180015"/>
            <a:ext cx="25172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u"/>
            </a:pP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更新数据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73039" y="1698093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•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UPDATE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语句更新数据。</a:t>
            </a:r>
          </a:p>
          <a:p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•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可以一次更新多条数据。</a:t>
            </a:r>
          </a:p>
          <a:p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•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如果需要回滚数据，需要保证在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DML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前，进行设置：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SET </a:t>
            </a: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b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</a:b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AUTOCOMMIT 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= FALSE;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39" y="2898422"/>
            <a:ext cx="6484937" cy="104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373039" y="3955987"/>
            <a:ext cx="43797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•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WHERE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子句指定需要更新的数据。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38" y="4325319"/>
            <a:ext cx="6427787" cy="111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394173" y="5439744"/>
            <a:ext cx="57166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•</a:t>
            </a:r>
            <a:r>
              <a:rPr lang="zh-CN" altLang="en-US" dirty="0" smtClean="0"/>
              <a:t>如果</a:t>
            </a:r>
            <a:r>
              <a:rPr lang="zh-CN" altLang="en-US" dirty="0"/>
              <a:t>省略</a:t>
            </a:r>
            <a:r>
              <a:rPr lang="en-US" altLang="zh-CN" dirty="0"/>
              <a:t>WHERE </a:t>
            </a:r>
            <a:r>
              <a:rPr lang="zh-CN" altLang="en-US" dirty="0"/>
              <a:t>子句，则表中的所有数据都将被更新</a:t>
            </a: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116" y="5809076"/>
            <a:ext cx="6542087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矩形 10"/>
          <p:cNvSpPr/>
          <p:nvPr/>
        </p:nvSpPr>
        <p:spPr>
          <a:xfrm>
            <a:off x="7196097" y="1180015"/>
            <a:ext cx="25172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u"/>
            </a:pP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DELETE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语句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6097" y="1850582"/>
            <a:ext cx="4746222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>
          <a:xfrm>
            <a:off x="7196097" y="2922727"/>
            <a:ext cx="486543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•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WHERE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子句删除指定的记录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/>
            </a:r>
            <a:br>
              <a:rPr lang="en-US" altLang="zh-CN" dirty="0" smtClean="0">
                <a:latin typeface="微软雅黑" pitchFamily="34" charset="-122"/>
                <a:ea typeface="微软雅黑" pitchFamily="34" charset="-122"/>
              </a:rPr>
            </a:b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•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如果省略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WHERE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子句，则表中的全部数据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将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/>
            </a:r>
            <a:br>
              <a:rPr lang="en-US" altLang="zh-CN" dirty="0" smtClean="0">
                <a:latin typeface="微软雅黑" pitchFamily="34" charset="-122"/>
                <a:ea typeface="微软雅黑" pitchFamily="34" charset="-122"/>
              </a:rPr>
            </a:b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被删除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6097" y="4117235"/>
            <a:ext cx="4497365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6461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/>
          <a:lstStyle/>
          <a:p>
            <a:r>
              <a:rPr lang="zh-CN" altLang="en-US" sz="4000" dirty="0">
                <a:latin typeface="Microsoft YaHei" charset="-122"/>
                <a:ea typeface="Microsoft YaHei" charset="-122"/>
                <a:cs typeface="Microsoft YaHei" charset="-122"/>
              </a:rPr>
              <a:t>感谢您的支持</a:t>
            </a:r>
            <a:endParaRPr lang="zh-CN" sz="40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28267" y="2402238"/>
            <a:ext cx="5859506" cy="218722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4000" dirty="0">
                <a:latin typeface="Microsoft YaHei" charset="-122"/>
                <a:ea typeface="Microsoft YaHei" charset="-122"/>
                <a:cs typeface="Microsoft YaHei" charset="-122"/>
              </a:rPr>
              <a:t>欢迎您的意见</a:t>
            </a:r>
            <a:endParaRPr lang="zh-CN" sz="40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661298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WelcomeDoc" id="{E1E7EDF9-8B79-4E5D-B508-2301E35CD219}" vid="{4342E303-0389-44F2-B6F0-C13C203CC59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D8DBC0A1-66E1-4B9D-88C2-9B3A32A2147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欢迎使用 PowerPoint</Template>
  <TotalTime>0</TotalTime>
  <Words>1059</Words>
  <Application>Microsoft Office PowerPoint</Application>
  <PresentationFormat>自定义</PresentationFormat>
  <Paragraphs>200</Paragraphs>
  <Slides>17</Slides>
  <Notes>17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18" baseType="lpstr">
      <vt:lpstr>WelcomeDoc</vt:lpstr>
      <vt:lpstr>MySQL</vt:lpstr>
      <vt:lpstr>DML/DDL/DCL</vt:lpstr>
      <vt:lpstr>DML/DDL/DCL</vt:lpstr>
      <vt:lpstr>      基础SELECT语句</vt:lpstr>
      <vt:lpstr>      基础SELECT语句</vt:lpstr>
      <vt:lpstr>      过滤/排序/分组</vt:lpstr>
      <vt:lpstr>      过滤/排序/分组</vt:lpstr>
      <vt:lpstr>      过滤/排序/分组</vt:lpstr>
      <vt:lpstr>      过滤/排序/分组</vt:lpstr>
      <vt:lpstr>   常见函数</vt:lpstr>
      <vt:lpstr>      常见函数</vt:lpstr>
      <vt:lpstr>      数字函数</vt:lpstr>
      <vt:lpstr>   条件表达式</vt:lpstr>
      <vt:lpstr>   数据增删改</vt:lpstr>
      <vt:lpstr>   数据增删改</vt:lpstr>
      <vt:lpstr>   数据增删改</vt:lpstr>
      <vt:lpstr>感谢您的支持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2014-12-18T01:58:08Z</dcterms:created>
  <dcterms:modified xsi:type="dcterms:W3CDTF">2019-07-19T01:40:33Z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