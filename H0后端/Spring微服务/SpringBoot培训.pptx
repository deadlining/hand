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21"/>
  </p:notesMasterIdLst>
  <p:sldIdLst>
    <p:sldId id="256" r:id="rId3"/>
    <p:sldId id="446" r:id="rId4"/>
    <p:sldId id="448" r:id="rId5"/>
    <p:sldId id="511" r:id="rId6"/>
    <p:sldId id="512" r:id="rId7"/>
    <p:sldId id="552" r:id="rId8"/>
    <p:sldId id="553" r:id="rId9"/>
    <p:sldId id="554" r:id="rId10"/>
    <p:sldId id="555" r:id="rId11"/>
    <p:sldId id="518" r:id="rId12"/>
    <p:sldId id="519" r:id="rId13"/>
    <p:sldId id="520" r:id="rId14"/>
    <p:sldId id="521" r:id="rId15"/>
    <p:sldId id="556" r:id="rId16"/>
    <p:sldId id="557" r:id="rId17"/>
    <p:sldId id="513" r:id="rId18"/>
    <p:sldId id="545" r:id="rId19"/>
    <p:sldId id="31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欢迎" id="{E75E278A-FF0E-49A4-B170-79828D63BBAD}">
          <p14:sldIdLst>
            <p14:sldId id="256"/>
            <p14:sldId id="446"/>
            <p14:sldId id="448"/>
            <p14:sldId id="511"/>
            <p14:sldId id="512"/>
            <p14:sldId id="552"/>
            <p14:sldId id="553"/>
            <p14:sldId id="554"/>
            <p14:sldId id="555"/>
            <p14:sldId id="518"/>
            <p14:sldId id="519"/>
            <p14:sldId id="520"/>
            <p14:sldId id="521"/>
            <p14:sldId id="556"/>
            <p14:sldId id="557"/>
            <p14:sldId id="513"/>
            <p14:sldId id="545"/>
            <p14:sldId id="31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4F2B"/>
    <a:srgbClr val="FB4005"/>
    <a:srgbClr val="FFCC66"/>
    <a:srgbClr val="F5E6C7"/>
    <a:srgbClr val="FF6600"/>
    <a:srgbClr val="E8E0D4"/>
    <a:srgbClr val="FFFF66"/>
    <a:srgbClr val="FFFF99"/>
    <a:srgbClr val="FF3737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8893" autoAdjust="0"/>
  </p:normalViewPr>
  <p:slideViewPr>
    <p:cSldViewPr snapToGrid="0">
      <p:cViewPr varScale="1">
        <p:scale>
          <a:sx n="73" d="100"/>
          <a:sy n="73" d="100"/>
        </p:scale>
        <p:origin x="960" y="66"/>
      </p:cViewPr>
      <p:guideLst>
        <p:guide orient="horz" pos="2205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C13577B-6902-467D-A26C-08A0DD5E4E03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DF61EA0F-A667-4B49-8422-0062BC55E249}" type="slidenum">
              <a:rPr/>
              <a:pPr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zh-CN" smtClean="0"/>
              <a:pPr/>
              <a:t>1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212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10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767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63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230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dirty="0"/>
              <a:t/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859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/>
            </a:r>
            <a:br>
              <a:rPr lang="zh-CN" altLang="en-US" dirty="0"/>
            </a:br>
            <a:r>
              <a:rPr lang="zh-CN" altLang="en-US" dirty="0"/>
              <a:t/>
            </a:r>
            <a:br>
              <a:rPr lang="zh-CN" alt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546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162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868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534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4507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538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481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770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443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3710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</a:t>
            </a:r>
            <a:r>
              <a:rPr lang="zh-CN" baseline="0" dirty="0"/>
              <a:t>“幻灯片放映”模式，单击箭头进入 PowerPoint 入门中心。</a:t>
            </a:r>
            <a:endParaRPr lang="zh-CN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altLang="zh-CN" smtClean="0"/>
              <a:pPr/>
              <a:t>18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65550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 latinLnBrk="0">
              <a:defRPr lang="zh-CN" sz="5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 latinLnBrk="0">
              <a:lnSpc>
                <a:spcPct val="150000"/>
              </a:lnSpc>
              <a:spcBef>
                <a:spcPts val="600"/>
              </a:spcBef>
              <a:buNone/>
              <a:defRPr lang="zh-CN" sz="2800">
                <a:solidFill>
                  <a:srgbClr val="D24726"/>
                </a:solidFill>
                <a:latin typeface="+mj-lt"/>
              </a:defRPr>
            </a:lvl1pPr>
            <a:lvl2pPr marL="457200" indent="0" algn="ctr" latinLnBrk="0">
              <a:buNone/>
              <a:defRPr lang="zh-CN" sz="2000"/>
            </a:lvl2pPr>
            <a:lvl3pPr marL="914400" indent="0" algn="ctr" latinLnBrk="0">
              <a:buNone/>
              <a:defRPr lang="zh-CN" sz="1800"/>
            </a:lvl3pPr>
            <a:lvl4pPr marL="1371600" indent="0" algn="ctr" latinLnBrk="0">
              <a:buNone/>
              <a:defRPr lang="zh-CN" sz="1600"/>
            </a:lvl4pPr>
            <a:lvl5pPr marL="1828800" indent="0" algn="ctr" latinLnBrk="0">
              <a:buNone/>
              <a:defRPr lang="zh-CN" sz="1600"/>
            </a:lvl5pPr>
            <a:lvl6pPr marL="2286000" indent="0" algn="ctr" latinLnBrk="0">
              <a:buNone/>
              <a:defRPr lang="zh-CN" sz="1600"/>
            </a:lvl6pPr>
            <a:lvl7pPr marL="2743200" indent="0" algn="ctr" latinLnBrk="0">
              <a:buNone/>
              <a:defRPr lang="zh-CN" sz="1600"/>
            </a:lvl7pPr>
            <a:lvl8pPr marL="3200400" indent="0" algn="ctr" latinLnBrk="0">
              <a:buNone/>
              <a:defRPr lang="zh-CN" sz="1600"/>
            </a:lvl8pPr>
            <a:lvl9pPr marL="3657600" indent="0" algn="ctr" latinLnBrk="0">
              <a:buNone/>
              <a:defRPr lang="zh-CN" sz="1600"/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738231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7" name="矩形 6"/>
          <p:cNvSpPr/>
          <p:nvPr/>
        </p:nvSpPr>
        <p:spPr>
          <a:xfrm>
            <a:off x="0" y="0"/>
            <a:ext cx="12192000" cy="738231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738231"/>
          </a:xfrm>
        </p:spPr>
        <p:txBody>
          <a:bodyPr anchor="ctr">
            <a:normAutofit/>
          </a:bodyPr>
          <a:lstStyle>
            <a:lvl1pPr latinLnBrk="0">
              <a:defRPr lang="zh-CN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 latinLnBrk="0">
              <a:lnSpc>
                <a:spcPct val="150000"/>
              </a:lnSpc>
              <a:spcAft>
                <a:spcPts val="1200"/>
              </a:spcAft>
              <a:buNone/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lnSpc>
                <a:spcPct val="150000"/>
              </a:lnSpc>
              <a:spcAft>
                <a:spcPts val="1200"/>
              </a:spcAft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lnSpc>
                <a:spcPct val="150000"/>
              </a:lnSpc>
              <a:spcAft>
                <a:spcPts val="1200"/>
              </a:spcAft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lnSpc>
                <a:spcPct val="150000"/>
              </a:lnSpc>
              <a:spcAft>
                <a:spcPts val="1200"/>
              </a:spcAft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lnSpc>
                <a:spcPct val="150000"/>
              </a:lnSpc>
              <a:spcAft>
                <a:spcPts val="1200"/>
              </a:spcAft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pic>
        <p:nvPicPr>
          <p:cNvPr id="9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 latinLnBrk="0">
              <a:defRPr lang="zh-CN" sz="4800">
                <a:solidFill>
                  <a:srgbClr val="D24726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 latinLnBrk="0">
              <a:lnSpc>
                <a:spcPct val="150000"/>
              </a:lnSpc>
              <a:buNone/>
              <a:defRPr lang="zh-CN" sz="2800">
                <a:solidFill>
                  <a:schemeClr val="bg1"/>
                </a:solidFill>
                <a:latin typeface="+mj-lt"/>
              </a:defRPr>
            </a:lvl1pPr>
            <a:lvl2pPr marL="457200" indent="0" latinLnBrk="0">
              <a:buNone/>
              <a:defRPr lang="zh-CN" sz="2000"/>
            </a:lvl2pPr>
            <a:lvl3pPr marL="914400" indent="0" latinLnBrk="0">
              <a:buNone/>
              <a:defRPr lang="zh-CN" sz="1800"/>
            </a:lvl3pPr>
            <a:lvl4pPr marL="1371600" indent="0" latinLnBrk="0">
              <a:buNone/>
              <a:defRPr lang="zh-CN" sz="1600"/>
            </a:lvl4pPr>
            <a:lvl5pPr marL="1828800" indent="0" latinLnBrk="0">
              <a:buNone/>
              <a:defRPr lang="zh-CN" sz="1600"/>
            </a:lvl5pPr>
            <a:lvl6pPr marL="2286000" indent="0" latinLnBrk="0">
              <a:buNone/>
              <a:defRPr lang="zh-CN" sz="1600"/>
            </a:lvl6pPr>
            <a:lvl7pPr marL="2743200" indent="0" latinLnBrk="0">
              <a:buNone/>
              <a:defRPr lang="zh-CN" sz="1600"/>
            </a:lvl7pPr>
            <a:lvl8pPr marL="3200400" indent="0" latinLnBrk="0">
              <a:buNone/>
              <a:defRPr lang="zh-CN" sz="1600"/>
            </a:lvl8pPr>
            <a:lvl9pPr marL="3657600" indent="0" latinLnBrk="0">
              <a:buNone/>
              <a:defRPr lang="zh-CN"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9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9" name="矩形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10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11" name="矩形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12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8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pic>
        <p:nvPicPr>
          <p:cNvPr id="5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atinLnBrk="0">
              <a:defRPr lang="zh-CN" sz="32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 latinLnBrk="0">
              <a:defRPr lang="zh-CN" sz="1600">
                <a:solidFill>
                  <a:schemeClr val="bg1">
                    <a:lumMod val="50000"/>
                  </a:schemeClr>
                </a:solidFill>
              </a:defRPr>
            </a:lvl1pPr>
            <a:lvl2pPr latinLnBrk="0">
              <a:defRPr lang="zh-CN" sz="1400">
                <a:solidFill>
                  <a:schemeClr val="bg1">
                    <a:lumMod val="50000"/>
                  </a:schemeClr>
                </a:solidFill>
              </a:defRPr>
            </a:lvl2pPr>
            <a:lvl3pPr latinLnBrk="0">
              <a:defRPr lang="zh-CN" sz="1200">
                <a:solidFill>
                  <a:schemeClr val="bg1">
                    <a:lumMod val="50000"/>
                  </a:schemeClr>
                </a:solidFill>
              </a:defRPr>
            </a:lvl3pPr>
            <a:lvl4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4pPr>
            <a:lvl5pPr latinLnBrk="0">
              <a:defRPr lang="zh-CN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第二级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第三级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第四级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 latinLnBrk="0">
              <a:buNone/>
              <a:defRPr lang="zh-CN" sz="16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pic>
        <p:nvPicPr>
          <p:cNvPr id="8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atinLnBrk="0">
              <a:defRPr lang="zh-CN" sz="32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 latinLnBrk="0">
              <a:buNone/>
              <a:defRPr lang="zh-CN" sz="32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 latinLnBrk="0">
              <a:buNone/>
              <a:defRPr lang="zh-CN" sz="1600"/>
            </a:lvl1pPr>
            <a:lvl2pPr marL="457200" indent="0" latinLnBrk="0">
              <a:buNone/>
              <a:defRPr lang="zh-CN" sz="1400"/>
            </a:lvl2pPr>
            <a:lvl3pPr marL="914400" indent="0" latinLnBrk="0">
              <a:buNone/>
              <a:defRPr lang="zh-CN" sz="1200"/>
            </a:lvl3pPr>
            <a:lvl4pPr marL="1371600" indent="0" latinLnBrk="0">
              <a:buNone/>
              <a:defRPr lang="zh-CN" sz="1000"/>
            </a:lvl4pPr>
            <a:lvl5pPr marL="1828800" indent="0" latinLnBrk="0">
              <a:buNone/>
              <a:defRPr lang="zh-CN" sz="1000"/>
            </a:lvl5pPr>
            <a:lvl6pPr marL="2286000" indent="0" latinLnBrk="0">
              <a:buNone/>
              <a:defRPr lang="zh-CN" sz="1000"/>
            </a:lvl6pPr>
            <a:lvl7pPr marL="2743200" indent="0" latinLnBrk="0">
              <a:buNone/>
              <a:defRPr lang="zh-CN" sz="1000"/>
            </a:lvl7pPr>
            <a:lvl8pPr marL="3200400" indent="0" latinLnBrk="0">
              <a:buNone/>
              <a:defRPr lang="zh-CN" sz="1000"/>
            </a:lvl8pPr>
            <a:lvl9pPr marL="3657600" indent="0" latinLnBrk="0">
              <a:buNone/>
              <a:defRPr lang="zh-CN"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pic>
        <p:nvPicPr>
          <p:cNvPr id="8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pic>
        <p:nvPicPr>
          <p:cNvPr id="9" name="图片 13" descr="logo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01400" y="6608763"/>
            <a:ext cx="990600" cy="24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>
            <a:spLocks noChangeArrowheads="1"/>
          </p:cNvSpPr>
          <p:nvPr userDrawn="1"/>
        </p:nvSpPr>
        <p:spPr bwMode="auto">
          <a:xfrm>
            <a:off x="11853446" y="4276578"/>
            <a:ext cx="338554" cy="2273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eaVert" wrap="square">
            <a:spAutoFit/>
          </a:bodyPr>
          <a:lstStyle/>
          <a:p>
            <a:pPr algn="r">
              <a:defRPr/>
            </a:pPr>
            <a:r>
              <a:rPr lang="zh-CN" altLang="en-US" sz="1000" b="0" dirty="0">
                <a:solidFill>
                  <a:srgbClr val="777777"/>
                </a:solidFill>
                <a:latin typeface="黑体" pitchFamily="2" charset="-122"/>
                <a:ea typeface="黑体" pitchFamily="2" charset="-122"/>
              </a:rPr>
              <a:t>仅供汉得公司内部阅读与使用</a:t>
            </a:r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 latinLnBrk="0">
              <a:defRPr lang="zh-CN" sz="36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zh-CN" altLang="en-US"/>
              <a:pPr/>
              <a:t>2020/7/13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/>
              <a:pPr/>
              <a:t>‹#›</a:t>
            </a:fld>
            <a:endParaRPr lang="zh-CN"/>
          </a:p>
        </p:txBody>
      </p:sp>
      <p:sp>
        <p:nvSpPr>
          <p:cNvPr id="8" name="矩形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8BEEBAAA-29B5-4AF5-BC5F-7E580C29002D}" type="datetimeFigureOut">
              <a:rPr lang="en-US" altLang="zh-CN" smtClean="0"/>
              <a:pPr/>
              <a:t>7/13/2020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lang="zh-CN"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9860EDB8-5305-433F-BE41-D7A86D811DB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zh-CN" sz="4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95275" y="1041400"/>
            <a:ext cx="4758751" cy="23876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spcAft>
                <a:spcPts val="1200"/>
              </a:spcAft>
            </a:pPr>
            <a:r>
              <a:rPr lang="en-US" altLang="zh-CN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" charset="-122"/>
                <a:ea typeface="Microsoft YaHei" charset="-122"/>
                <a:cs typeface="Microsoft YaHei" charset="-122"/>
              </a:rPr>
              <a:t>Spring Boot</a:t>
            </a:r>
            <a:endParaRPr lang="zh-CN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95352" y="5433442"/>
            <a:ext cx="9383971" cy="1137793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>
                <a:latin typeface="Microsoft YaHei" charset="-122"/>
                <a:ea typeface="Microsoft YaHei" charset="-122"/>
                <a:cs typeface="Microsoft YaHei" charset="-122"/>
              </a:rPr>
              <a:t>姓名</a:t>
            </a:r>
            <a:r>
              <a:rPr lang="zh-CN" altLang="en-US" smtClean="0">
                <a:latin typeface="Microsoft YaHei" charset="-122"/>
                <a:ea typeface="Microsoft YaHei" charset="-122"/>
                <a:cs typeface="Microsoft YaHei" charset="-122"/>
              </a:rPr>
              <a:t>：西安中心</a:t>
            </a:r>
            <a:endParaRPr lang="en-US" altLang="zh-CN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日期：</a:t>
            </a:r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2019.07</a:t>
            </a:r>
          </a:p>
        </p:txBody>
      </p:sp>
      <p:pic>
        <p:nvPicPr>
          <p:cNvPr id="6" name="Picture 2" descr="C:\Users\hand\AppData\Roaming\Foxmail7\Temp-2028-20160122153227\2015-01-07 hand 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631" y="4878963"/>
            <a:ext cx="2585844" cy="1958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06"/>
          <a:stretch/>
        </p:blipFill>
        <p:spPr>
          <a:xfrm>
            <a:off x="5343526" y="0"/>
            <a:ext cx="6846895" cy="48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Microsoft YaHei" charset="-122"/>
                <a:ea typeface="Microsoft YaHei" charset="-122"/>
                <a:cs typeface="Microsoft YaHei" charset="-122"/>
              </a:rPr>
              <a:t>Spring Boot</a:t>
            </a:r>
            <a:endParaRPr lang="zh-CN" altLang="en-US" b="1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78171" y="2189019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/>
              <a:t>认识</a:t>
            </a:r>
            <a:r>
              <a:rPr lang="en-US" altLang="zh-CN" sz="4400" dirty="0"/>
              <a:t>Spring Boot</a:t>
            </a:r>
            <a:r>
              <a:rPr lang="zh-CN" altLang="en-US" sz="4400" dirty="0"/>
              <a:t>的组成部分</a:t>
            </a:r>
          </a:p>
        </p:txBody>
      </p:sp>
    </p:spTree>
    <p:extLst>
      <p:ext uri="{BB962C8B-B14F-4D97-AF65-F5344CB8AC3E}">
        <p14:creationId xmlns:p14="http://schemas.microsoft.com/office/powerpoint/2010/main" val="352224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5451" y="2142308"/>
            <a:ext cx="10098405" cy="246112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不是应用服务器</a:t>
            </a:r>
            <a:endParaRPr lang="en-US" altLang="zh-CN" sz="2000" dirty="0"/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不是</a:t>
            </a:r>
            <a:r>
              <a:rPr lang="en-US" altLang="zh-CN" sz="2000" dirty="0"/>
              <a:t>Java EE</a:t>
            </a:r>
            <a:r>
              <a:rPr lang="zh-CN" altLang="en-US" sz="2000" dirty="0"/>
              <a:t>之类的规范</a:t>
            </a:r>
            <a:endParaRPr lang="en-US" altLang="zh-CN" sz="2000" dirty="0"/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不是代码生成器</a:t>
            </a:r>
            <a:endParaRPr lang="en-US" altLang="zh-CN" sz="2000" dirty="0"/>
          </a:p>
          <a:p>
            <a:pPr marL="285750" indent="-285750" algn="l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不是</a:t>
            </a:r>
            <a:r>
              <a:rPr lang="en-US" altLang="zh-CN" sz="2000" dirty="0"/>
              <a:t>Spring Framework</a:t>
            </a:r>
            <a:r>
              <a:rPr lang="zh-CN" altLang="en-US" sz="2000" dirty="0"/>
              <a:t>的升级版</a:t>
            </a: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/>
              <a:t>Spring Boot</a:t>
            </a:r>
            <a:r>
              <a:rPr lang="zh-CN" altLang="en-US" sz="4400" dirty="0"/>
              <a:t>不是什么</a:t>
            </a:r>
          </a:p>
        </p:txBody>
      </p:sp>
    </p:spTree>
    <p:extLst>
      <p:ext uri="{BB962C8B-B14F-4D97-AF65-F5344CB8AC3E}">
        <p14:creationId xmlns:p14="http://schemas.microsoft.com/office/powerpoint/2010/main" val="1944157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5451" y="2142308"/>
            <a:ext cx="10098405" cy="378565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方便地创建可独立运行的 </a:t>
            </a:r>
            <a:r>
              <a:rPr lang="en-US" altLang="zh-CN" sz="2000" dirty="0"/>
              <a:t>Spring </a:t>
            </a:r>
            <a:r>
              <a:rPr lang="zh-CN" altLang="en-US" sz="2000" dirty="0"/>
              <a:t>应用程序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直接内嵌 </a:t>
            </a:r>
            <a:r>
              <a:rPr lang="en-US" altLang="zh-CN" sz="2000" dirty="0"/>
              <a:t>Tomcat</a:t>
            </a:r>
            <a:r>
              <a:rPr lang="zh-CN" altLang="en-US" sz="2000" dirty="0"/>
              <a:t>、</a:t>
            </a:r>
            <a:r>
              <a:rPr lang="en-US" altLang="zh-CN" sz="2000" dirty="0"/>
              <a:t>Jetty </a:t>
            </a:r>
            <a:r>
              <a:rPr lang="zh-CN" altLang="en-US" sz="2000" dirty="0"/>
              <a:t>或 </a:t>
            </a:r>
            <a:r>
              <a:rPr lang="en-US" altLang="zh-CN" sz="2000" dirty="0"/>
              <a:t>Undertow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简化了项目的构建配置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为 </a:t>
            </a:r>
            <a:r>
              <a:rPr lang="en-US" altLang="zh-CN" sz="2000" dirty="0"/>
              <a:t>Spring </a:t>
            </a:r>
            <a:r>
              <a:rPr lang="zh-CN" altLang="en-US" sz="2000" dirty="0"/>
              <a:t>及第</a:t>
            </a:r>
            <a:r>
              <a:rPr lang="zh-CN" altLang="en-US" sz="2000" dirty="0" smtClean="0"/>
              <a:t>三方</a:t>
            </a:r>
            <a:r>
              <a:rPr lang="zh-CN" altLang="en-US" sz="2000" dirty="0"/>
              <a:t>库提供自动配置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提供生产级特性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无需生成代码或进行</a:t>
            </a:r>
            <a:r>
              <a:rPr lang="en-US" altLang="zh-CN" sz="2000" dirty="0"/>
              <a:t>XML </a:t>
            </a:r>
            <a:r>
              <a:rPr lang="zh-CN" altLang="en-US" sz="2000" dirty="0"/>
              <a:t>配置</a:t>
            </a: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/>
              <a:t>Spring Boot</a:t>
            </a:r>
            <a:r>
              <a:rPr lang="zh-CN" altLang="en-US" sz="4400" dirty="0"/>
              <a:t> 的特性</a:t>
            </a:r>
          </a:p>
        </p:txBody>
      </p:sp>
    </p:spTree>
    <p:extLst>
      <p:ext uri="{BB962C8B-B14F-4D97-AF65-F5344CB8AC3E}">
        <p14:creationId xmlns:p14="http://schemas.microsoft.com/office/powerpoint/2010/main" val="772119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5451" y="2142308"/>
            <a:ext cx="10098405" cy="246112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自动配置 </a:t>
            </a:r>
            <a:r>
              <a:rPr lang="en-US" altLang="zh-CN" sz="2000" dirty="0"/>
              <a:t>- Auto Configuration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起步依赖 </a:t>
            </a:r>
            <a:r>
              <a:rPr lang="en-US" altLang="zh-CN" sz="2000" dirty="0"/>
              <a:t>- Starter Dependency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命令</a:t>
            </a:r>
            <a:r>
              <a:rPr lang="zh-CN" altLang="nl-NL" sz="2000" dirty="0"/>
              <a:t>行</a:t>
            </a:r>
            <a:r>
              <a:rPr lang="zh-CN" altLang="en-US" sz="2000" dirty="0"/>
              <a:t>界</a:t>
            </a:r>
            <a:r>
              <a:rPr lang="zh-CN" altLang="nl-NL" sz="2000" dirty="0"/>
              <a:t>面 </a:t>
            </a:r>
            <a:r>
              <a:rPr lang="nl-NL" altLang="zh-CN" sz="2000" dirty="0"/>
              <a:t>- Spring Boot CLI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Actuator</a:t>
            </a:r>
            <a:endParaRPr lang="zh-CN" altLang="en-US" sz="2000" dirty="0"/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/>
              <a:t>Spring Boot </a:t>
            </a:r>
            <a:r>
              <a:rPr lang="zh-CN" altLang="en-US" sz="4400" dirty="0"/>
              <a:t>四大核心</a:t>
            </a:r>
          </a:p>
        </p:txBody>
      </p:sp>
    </p:spTree>
    <p:extLst>
      <p:ext uri="{BB962C8B-B14F-4D97-AF65-F5344CB8AC3E}">
        <p14:creationId xmlns:p14="http://schemas.microsoft.com/office/powerpoint/2010/main" val="4113519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 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入门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24612" y="1708914"/>
            <a:ext cx="10098405" cy="4767074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r>
              <a:rPr lang="en-US" altLang="zh-CN" b="1" dirty="0"/>
              <a:t>IDEA </a:t>
            </a:r>
            <a:r>
              <a:rPr lang="zh-CN" altLang="en-US" b="1" dirty="0"/>
              <a:t>构建项目</a:t>
            </a:r>
            <a:endParaRPr lang="zh-CN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1</a:t>
            </a:r>
            <a:r>
              <a:rPr lang="zh-CN" altLang="en-US" dirty="0"/>
              <a:t>、选择 </a:t>
            </a:r>
            <a:r>
              <a:rPr lang="en-US" altLang="zh-CN" b="1" dirty="0"/>
              <a:t>File -&gt; New —&gt; Project</a:t>
            </a:r>
            <a:r>
              <a:rPr lang="en-US" altLang="zh-CN" dirty="0"/>
              <a:t>… </a:t>
            </a:r>
            <a:r>
              <a:rPr lang="zh-CN" altLang="en-US" dirty="0"/>
              <a:t>弹出新建项目的框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、选择 </a:t>
            </a:r>
            <a:r>
              <a:rPr lang="en-US" altLang="zh-CN" b="1" dirty="0"/>
              <a:t>Spring </a:t>
            </a:r>
            <a:r>
              <a:rPr lang="en-US" altLang="zh-CN" b="1" dirty="0" err="1"/>
              <a:t>Initializr</a:t>
            </a:r>
            <a:r>
              <a:rPr lang="zh-CN" altLang="en-US" dirty="0"/>
              <a:t>，</a:t>
            </a:r>
            <a:r>
              <a:rPr lang="en-US" altLang="zh-CN" dirty="0"/>
              <a:t>Next </a:t>
            </a:r>
            <a:r>
              <a:rPr lang="zh-CN" altLang="en-US" dirty="0"/>
              <a:t>也会出现上述类似的配置界面，</a:t>
            </a:r>
            <a:r>
              <a:rPr lang="en-US" altLang="zh-CN" dirty="0"/>
              <a:t>Idea </a:t>
            </a:r>
            <a:r>
              <a:rPr lang="zh-CN" altLang="en-US" dirty="0"/>
              <a:t>帮我们做了集成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3</a:t>
            </a:r>
            <a:r>
              <a:rPr lang="zh-CN" altLang="en-US" dirty="0"/>
              <a:t>、填写相关内容后，点击 </a:t>
            </a:r>
            <a:r>
              <a:rPr lang="en-US" altLang="zh-CN" dirty="0"/>
              <a:t>Next </a:t>
            </a:r>
            <a:r>
              <a:rPr lang="zh-CN" altLang="en-US" dirty="0"/>
              <a:t>选择依赖的包再点击 </a:t>
            </a:r>
            <a:r>
              <a:rPr lang="en-US" altLang="zh-CN" dirty="0"/>
              <a:t>Next</a:t>
            </a:r>
            <a:r>
              <a:rPr lang="zh-CN" altLang="en-US" dirty="0"/>
              <a:t>，最后确定信息无误点击 </a:t>
            </a:r>
            <a:r>
              <a:rPr lang="en-US" altLang="zh-CN" dirty="0"/>
              <a:t>Finish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Spring Boot </a:t>
            </a:r>
            <a:r>
              <a:rPr lang="zh-CN" altLang="en-US" dirty="0"/>
              <a:t>的基础结构共三个文件</a:t>
            </a:r>
            <a:r>
              <a:rPr lang="en-US" altLang="zh-CN" dirty="0"/>
              <a:t>:</a:t>
            </a:r>
          </a:p>
          <a:p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src</a:t>
            </a:r>
            <a:r>
              <a:rPr lang="en-US" altLang="zh-CN" dirty="0"/>
              <a:t>/main/java </a:t>
            </a:r>
            <a:r>
              <a:rPr lang="zh-CN" altLang="en-US" dirty="0"/>
              <a:t>程序开发以及主程序入口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src</a:t>
            </a:r>
            <a:r>
              <a:rPr lang="en-US" altLang="zh-CN" dirty="0"/>
              <a:t>/main/resources </a:t>
            </a:r>
            <a:r>
              <a:rPr lang="zh-CN" altLang="en-US" dirty="0"/>
              <a:t>配置文件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src</a:t>
            </a:r>
            <a:r>
              <a:rPr lang="en-US" altLang="zh-CN" dirty="0"/>
              <a:t>/test/java </a:t>
            </a:r>
            <a:r>
              <a:rPr lang="zh-CN" altLang="en-US" dirty="0"/>
              <a:t>测试程序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dirty="0"/>
              <a:t>另外， </a:t>
            </a:r>
            <a:r>
              <a:rPr lang="en-US" altLang="zh-CN" dirty="0"/>
              <a:t>Spring Boot </a:t>
            </a:r>
            <a:r>
              <a:rPr lang="zh-CN" altLang="en-US" dirty="0"/>
              <a:t>建议的目录结果如下：</a:t>
            </a:r>
          </a:p>
          <a:p>
            <a:r>
              <a:rPr lang="en-US" altLang="zh-CN" dirty="0"/>
              <a:t>root package </a:t>
            </a:r>
            <a:r>
              <a:rPr lang="zh-CN" altLang="en-US" dirty="0"/>
              <a:t>结构：</a:t>
            </a:r>
            <a:r>
              <a:rPr lang="en-US" altLang="zh-CN" dirty="0" err="1"/>
              <a:t>com.example.myproject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endParaRPr lang="zh-CN" altLang="zh-CN" sz="2000" dirty="0"/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/>
              <a:t>新建项目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72267AE-84A0-4676-9ED6-CD89AE4B7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567" y="2964479"/>
            <a:ext cx="3781824" cy="378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71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 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入门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24612" y="908366"/>
            <a:ext cx="10098405" cy="116608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endParaRPr lang="en-US" altLang="zh-CN" dirty="0"/>
          </a:p>
          <a:p>
            <a:endParaRPr lang="zh-CN" altLang="en-US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endParaRPr lang="zh-CN" altLang="zh-CN" sz="2000" dirty="0"/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ECB03-E535-46DA-BA50-5A7993C9760B}"/>
              </a:ext>
            </a:extLst>
          </p:cNvPr>
          <p:cNvSpPr/>
          <p:nvPr/>
        </p:nvSpPr>
        <p:spPr>
          <a:xfrm>
            <a:off x="0" y="1058791"/>
            <a:ext cx="1086630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引入 </a:t>
            </a:r>
            <a:r>
              <a:rPr lang="en-US" altLang="zh-CN" b="1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b="1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</a:t>
            </a:r>
            <a:endParaRPr lang="zh-CN" altLang="en-US" dirty="0">
              <a:solidFill>
                <a:srgbClr val="2429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pom.xml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中添加支持</a:t>
            </a: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的模块：</a:t>
            </a:r>
            <a:endParaRPr lang="en-US" altLang="zh-CN" dirty="0">
              <a:solidFill>
                <a:srgbClr val="2429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b="0" i="0" dirty="0">
              <a:solidFill>
                <a:srgbClr val="24292E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、编写 </a:t>
            </a:r>
            <a:r>
              <a:rPr lang="en-US" altLang="zh-CN" dirty="0"/>
              <a:t>Controller </a:t>
            </a:r>
            <a:r>
              <a:rPr lang="zh-CN" altLang="en-US" dirty="0"/>
              <a:t>内容：</a:t>
            </a:r>
            <a:br>
              <a:rPr lang="zh-CN" altLang="en-US" dirty="0"/>
            </a:br>
            <a:endParaRPr lang="zh-CN" altLang="en-US" b="0" i="0" dirty="0">
              <a:solidFill>
                <a:srgbClr val="24292E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B8CD011-E21C-4D5B-99E6-83ABC333B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300" y="998109"/>
            <a:ext cx="6017114" cy="140545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0030332-1E5B-4933-BB52-8676285A1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0300" y="2826123"/>
            <a:ext cx="4589230" cy="227645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5BFB3F5-4B13-45B1-A20B-27C390E5D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718" y="5381895"/>
            <a:ext cx="5319221" cy="113547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937F664-E759-4040-B3DB-787394145B67}"/>
              </a:ext>
            </a:extLst>
          </p:cNvPr>
          <p:cNvSpPr/>
          <p:nvPr/>
        </p:nvSpPr>
        <p:spPr>
          <a:xfrm>
            <a:off x="118659" y="5487969"/>
            <a:ext cx="456407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3</a:t>
            </a:r>
            <a:r>
              <a:rPr lang="zh-CN" altLang="en-US" dirty="0"/>
              <a:t>、启动主程序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打开浏览器访问 </a:t>
            </a:r>
            <a:r>
              <a:rPr lang="en-US" altLang="zh-CN" dirty="0"/>
              <a:t>http://localhost:8080/hello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2950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热</a:t>
            </a:r>
            <a:r>
              <a:rPr lang="en-US" altLang="zh-CN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	Spring Boot</a:t>
            </a:r>
            <a:r>
              <a:rPr lang="zh-CN" altLang="en-US" dirty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热部署</a:t>
            </a:r>
          </a:p>
        </p:txBody>
      </p:sp>
      <p:sp>
        <p:nvSpPr>
          <p:cNvPr id="8" name="矩形 7"/>
          <p:cNvSpPr/>
          <p:nvPr/>
        </p:nvSpPr>
        <p:spPr>
          <a:xfrm>
            <a:off x="524612" y="908366"/>
            <a:ext cx="10098405" cy="116608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endParaRPr lang="en-US" altLang="zh-CN" dirty="0"/>
          </a:p>
          <a:p>
            <a:endParaRPr lang="zh-CN" altLang="en-US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endParaRPr lang="zh-CN" altLang="zh-CN" sz="2000" dirty="0"/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ECB03-E535-46DA-BA50-5A7993C9760B}"/>
              </a:ext>
            </a:extLst>
          </p:cNvPr>
          <p:cNvSpPr/>
          <p:nvPr/>
        </p:nvSpPr>
        <p:spPr>
          <a:xfrm>
            <a:off x="0" y="1058791"/>
            <a:ext cx="108663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、在</a:t>
            </a:r>
            <a:r>
              <a:rPr lang="en-US" altLang="zh-CN" dirty="0"/>
              <a:t>pom.xml</a:t>
            </a:r>
            <a:r>
              <a:rPr lang="zh-CN" altLang="en-US" dirty="0"/>
              <a:t>中做如图配置</a:t>
            </a:r>
            <a:br>
              <a:rPr lang="zh-CN" altLang="en-US" dirty="0"/>
            </a:br>
            <a:endParaRPr lang="zh-CN" altLang="en-US" b="0" i="0" dirty="0">
              <a:solidFill>
                <a:srgbClr val="24292E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33B66F3-0DBC-43B0-BEC1-430C5BAC9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5590"/>
            <a:ext cx="6193703" cy="146396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CD5A71C-982C-461E-81B7-48D5E72B1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74489"/>
            <a:ext cx="6193703" cy="186126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612A231-37F5-4CF9-BBF6-184FB4FC3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6851" y="2635755"/>
            <a:ext cx="8470099" cy="419636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A0CBAF38-8543-4DD6-BC4C-0963D791101C}"/>
              </a:ext>
            </a:extLst>
          </p:cNvPr>
          <p:cNvSpPr/>
          <p:nvPr/>
        </p:nvSpPr>
        <p:spPr>
          <a:xfrm>
            <a:off x="60189" y="3196355"/>
            <a:ext cx="108663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Edit Configuration….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b="0" i="0" dirty="0">
              <a:solidFill>
                <a:srgbClr val="24292E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14237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 </a:t>
            </a:r>
            <a:r>
              <a:rPr lang="zh-CN" altLang="en-US" dirty="0">
                <a:latin typeface="Microsoft YaHei" charset="-122"/>
                <a:ea typeface="Microsoft YaHei" charset="-122"/>
                <a:cs typeface="Microsoft YaHei" charset="-122"/>
              </a:rPr>
              <a:t>定时任务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24612" y="908366"/>
            <a:ext cx="10098405" cy="1166088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endParaRPr lang="en-US" altLang="zh-CN" dirty="0"/>
          </a:p>
          <a:p>
            <a:endParaRPr lang="zh-CN" altLang="en-US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endParaRPr lang="zh-CN" altLang="zh-CN" sz="2000" dirty="0"/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ECB03-E535-46DA-BA50-5A7993C9760B}"/>
              </a:ext>
            </a:extLst>
          </p:cNvPr>
          <p:cNvSpPr/>
          <p:nvPr/>
        </p:nvSpPr>
        <p:spPr>
          <a:xfrm>
            <a:off x="0" y="1058791"/>
            <a:ext cx="108663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引入 </a:t>
            </a:r>
            <a:r>
              <a:rPr lang="en-US" altLang="zh-CN" b="1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web </a:t>
            </a:r>
            <a:r>
              <a:rPr lang="zh-CN" altLang="en-US" b="1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</a:t>
            </a:r>
            <a:endParaRPr lang="zh-CN" altLang="en-US" dirty="0">
              <a:solidFill>
                <a:srgbClr val="24292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pom.xml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中添加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2</a:t>
            </a:r>
            <a:r>
              <a:rPr lang="zh-CN" altLang="en-US" dirty="0"/>
              <a:t>、在启动类上面加上</a:t>
            </a:r>
            <a:r>
              <a:rPr lang="en-US" altLang="zh-CN" dirty="0"/>
              <a:t>@</a:t>
            </a:r>
            <a:r>
              <a:rPr lang="en-US" altLang="zh-CN" dirty="0" err="1"/>
              <a:t>EnableScheduling</a:t>
            </a:r>
            <a:r>
              <a:rPr lang="zh-CN" altLang="en-US" dirty="0"/>
              <a:t>：</a:t>
            </a:r>
            <a:br>
              <a:rPr lang="zh-CN" altLang="en-US" dirty="0"/>
            </a:br>
            <a:endParaRPr lang="zh-CN" altLang="en-US" b="0" i="0" dirty="0">
              <a:solidFill>
                <a:srgbClr val="24292E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37F664-E759-4040-B3DB-787394145B67}"/>
              </a:ext>
            </a:extLst>
          </p:cNvPr>
          <p:cNvSpPr/>
          <p:nvPr/>
        </p:nvSpPr>
        <p:spPr>
          <a:xfrm>
            <a:off x="0" y="3945055"/>
            <a:ext cx="55526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3</a:t>
            </a:r>
            <a:r>
              <a:rPr lang="zh-CN" altLang="en-US" dirty="0"/>
              <a:t>、创建定时任务实现类</a:t>
            </a:r>
            <a:r>
              <a:rPr lang="en-US" altLang="zh-CN" dirty="0"/>
              <a:t>Scheduler2Task</a:t>
            </a:r>
            <a:r>
              <a:rPr lang="zh-CN" altLang="en-US" dirty="0"/>
              <a:t>和   </a:t>
            </a:r>
            <a:r>
              <a:rPr lang="en-US" altLang="zh-CN" dirty="0" err="1"/>
              <a:t>SchedulerTask</a:t>
            </a:r>
            <a:endParaRPr lang="en-US" altLang="zh-CN" dirty="0"/>
          </a:p>
          <a:p>
            <a:r>
              <a:rPr lang="zh-CN" altLang="en-US" dirty="0"/>
              <a:t>可以查看执行结果如下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D47BC2-F826-4F23-8620-266DE3F20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979" y="23144"/>
            <a:ext cx="5567189" cy="201488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10FB34C-822D-47A1-9959-A202CB906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96" y="2085387"/>
            <a:ext cx="9691566" cy="184873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9F19AA3-05B5-4E07-A48B-FDECD0DCE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9456" y="3112674"/>
            <a:ext cx="5860288" cy="196613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0D4B376-4CDB-4BC4-BC34-F2D6A6CD43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1183" y="4787676"/>
            <a:ext cx="7536833" cy="210330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CEFF6AD-BF72-4872-97E8-0C1E7819DC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151" y="4960718"/>
            <a:ext cx="3063805" cy="184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392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Microsoft YaHei" charset="-122"/>
                <a:ea typeface="Microsoft YaHei" charset="-122"/>
                <a:cs typeface="Microsoft YaHei" charset="-122"/>
              </a:rPr>
              <a:t>Spring Boot</a:t>
            </a:r>
            <a:endParaRPr lang="zh-CN" altLang="en-US" b="1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878171" y="2189019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/>
              <a:t>了解可执行</a:t>
            </a:r>
            <a:r>
              <a:rPr lang="en-US" altLang="zh-CN" sz="4400" dirty="0"/>
              <a:t>Jar</a:t>
            </a:r>
            <a:r>
              <a:rPr lang="zh-CN" altLang="en-US" sz="4400" dirty="0"/>
              <a:t>背后的秘密</a:t>
            </a:r>
            <a:endParaRPr lang="en-US" altLang="zh-CN" sz="4400" dirty="0"/>
          </a:p>
        </p:txBody>
      </p:sp>
    </p:spTree>
    <p:extLst>
      <p:ext uri="{BB962C8B-B14F-4D97-AF65-F5344CB8AC3E}">
        <p14:creationId xmlns:p14="http://schemas.microsoft.com/office/powerpoint/2010/main" val="3347975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5451" y="2142308"/>
            <a:ext cx="10098405" cy="440120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/>
              <a:t>其中包含</a:t>
            </a:r>
            <a:endParaRPr lang="en-US" altLang="zh-CN" sz="2000" b="1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Jar</a:t>
            </a:r>
            <a:r>
              <a:rPr lang="zh-CN" altLang="en-US" sz="2000" dirty="0"/>
              <a:t>描述，</a:t>
            </a:r>
            <a:r>
              <a:rPr lang="en-US" altLang="zh-CN" sz="2000" dirty="0"/>
              <a:t>META-INF/MANIFEST.MF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Spring Boot Loader</a:t>
            </a:r>
            <a:r>
              <a:rPr lang="zh-CN" altLang="en-US" sz="2000" dirty="0"/>
              <a:t>，</a:t>
            </a:r>
            <a:r>
              <a:rPr lang="en-US" altLang="zh-CN" sz="2000" dirty="0"/>
              <a:t>org/</a:t>
            </a:r>
            <a:r>
              <a:rPr lang="en-US" altLang="zh-CN" sz="2000" dirty="0" err="1"/>
              <a:t>springframework</a:t>
            </a:r>
            <a:r>
              <a:rPr lang="en-US" altLang="zh-CN" sz="2000" dirty="0"/>
              <a:t>/boot/loader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 smtClean="0"/>
              <a:t>项目</a:t>
            </a:r>
            <a:r>
              <a:rPr lang="zh-CN" altLang="en-US" sz="2000" dirty="0"/>
              <a:t>内容，</a:t>
            </a:r>
            <a:r>
              <a:rPr lang="en-US" altLang="zh-CN" sz="2000" dirty="0"/>
              <a:t>BOOT-INF/classes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 smtClean="0"/>
              <a:t>项目</a:t>
            </a:r>
            <a:r>
              <a:rPr lang="zh-CN" altLang="en-US" sz="2000" dirty="0"/>
              <a:t>依赖，</a:t>
            </a:r>
            <a:r>
              <a:rPr lang="en-US" altLang="zh-CN" sz="2000" dirty="0"/>
              <a:t>BOOT-INF/lib</a:t>
            </a:r>
          </a:p>
          <a:p>
            <a:pPr>
              <a:lnSpc>
                <a:spcPct val="200000"/>
              </a:lnSpc>
            </a:pPr>
            <a:r>
              <a:rPr lang="zh-CN" altLang="en-US" sz="2000" b="1" dirty="0"/>
              <a:t>不包含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JDK/JRE</a:t>
            </a: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/>
              <a:t>认识可执行</a:t>
            </a:r>
            <a:r>
              <a:rPr lang="en-US" altLang="zh-CN" sz="4400" dirty="0"/>
              <a:t>Jar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764716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/>
              <a:t>认识可执行</a:t>
            </a:r>
            <a:r>
              <a:rPr lang="en-US" altLang="zh-CN" sz="4400" dirty="0"/>
              <a:t>Jar</a:t>
            </a:r>
            <a:endParaRPr lang="zh-CN" altLang="en-US" sz="4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E3AEA2-0BA5-4E51-959C-05549502C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073" y="1889329"/>
            <a:ext cx="5730737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43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5451" y="2142308"/>
            <a:ext cx="10098405" cy="4305409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>
              <a:lnSpc>
                <a:spcPct val="200000"/>
              </a:lnSpc>
            </a:pPr>
            <a:r>
              <a:rPr lang="en-US" altLang="zh-CN" sz="2000" b="1" dirty="0"/>
              <a:t>Jar</a:t>
            </a:r>
            <a:r>
              <a:rPr lang="zh-CN" altLang="en-US" sz="2000" b="1" dirty="0"/>
              <a:t>的启动类</a:t>
            </a:r>
            <a:endParaRPr lang="en-US" altLang="zh-CN" sz="2000" b="1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MANIFEST.MF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Main-Class: </a:t>
            </a:r>
            <a:r>
              <a:rPr lang="en-US" altLang="zh-CN" sz="2000" dirty="0" err="1"/>
              <a:t>org.springframework.boot.loader.JarLauncher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b="1" dirty="0"/>
              <a:t>项目的主类</a:t>
            </a:r>
            <a:endParaRPr lang="en-US" altLang="zh-CN" sz="2000" b="1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@</a:t>
            </a:r>
            <a:r>
              <a:rPr lang="en-US" altLang="zh-CN" sz="2000" dirty="0" err="1"/>
              <a:t>SpringApplication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MANIFEST.MF</a:t>
            </a:r>
            <a:endParaRPr lang="zh-CN" altLang="en-US" sz="2000" b="1" dirty="0"/>
          </a:p>
          <a:p>
            <a:pPr marL="742950" lvl="1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Start-Class: </a:t>
            </a:r>
            <a:r>
              <a:rPr lang="en-US" altLang="zh-CN" sz="2000" dirty="0" err="1"/>
              <a:t>xxx.yyy.zzz</a:t>
            </a:r>
            <a:endParaRPr lang="en-US" altLang="zh-CN" sz="2000" dirty="0"/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/>
              <a:t>如何找到程序的入口</a:t>
            </a:r>
          </a:p>
        </p:txBody>
      </p:sp>
    </p:spTree>
    <p:extLst>
      <p:ext uri="{BB962C8B-B14F-4D97-AF65-F5344CB8AC3E}">
        <p14:creationId xmlns:p14="http://schemas.microsoft.com/office/powerpoint/2010/main" val="1465900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Microsoft YaHei" charset="-122"/>
                <a:ea typeface="Microsoft YaHei" charset="-122"/>
                <a:cs typeface="Microsoft YaHei" charset="-122"/>
              </a:rPr>
              <a:t>Spring Boot</a:t>
            </a:r>
            <a:endParaRPr lang="zh-CN" altLang="en-US" b="1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66136" y="1107346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 dirty="0"/>
              <a:t>Spring Boot </a:t>
            </a:r>
            <a:r>
              <a:rPr lang="zh-CN" altLang="en-US" sz="4400" dirty="0"/>
              <a:t>如何测试打包部署</a:t>
            </a:r>
            <a:endParaRPr lang="en-US" altLang="zh-CN" sz="4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C11AB8-C02E-4D3B-A0B8-D714C45F35FF}"/>
              </a:ext>
            </a:extLst>
          </p:cNvPr>
          <p:cNvSpPr/>
          <p:nvPr/>
        </p:nvSpPr>
        <p:spPr>
          <a:xfrm>
            <a:off x="410815" y="2444685"/>
            <a:ext cx="1008490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cd 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项目跟目录（和</a:t>
            </a: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pom.xml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同级）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mvn</a:t>
            </a:r>
            <a:r>
              <a:rPr lang="en-US" altLang="zh-CN" sz="24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clean package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## 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或者执行下面的命令</a:t>
            </a: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排除测试代码后进行打包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mvn</a:t>
            </a:r>
            <a:r>
              <a:rPr lang="en-US" altLang="zh-CN" sz="24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clean package  -</a:t>
            </a:r>
            <a:r>
              <a:rPr lang="en-US" altLang="zh-CN" sz="2400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Dmaven.test.skip</a:t>
            </a:r>
            <a:r>
              <a:rPr lang="en-US" altLang="zh-CN" sz="24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=true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启动 </a:t>
            </a: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jar 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包命令</a:t>
            </a: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dirty="0">
                <a:solidFill>
                  <a:srgbClr val="24292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 -jar  xxxxx.jar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这种方式，只要控制台关闭，服务就不能访问了。下面我们使用在后台运行的方式来启动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nohup</a:t>
            </a:r>
            <a:r>
              <a:rPr lang="en-US" altLang="zh-CN" sz="2400" dirty="0">
                <a:solidFill>
                  <a:srgbClr val="00B0F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java -jar xxx.jar &amp;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2056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5451" y="2142308"/>
            <a:ext cx="10098405" cy="184557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你能记得多少 </a:t>
            </a:r>
            <a:r>
              <a:rPr lang="en-US" altLang="zh-CN" sz="2000" dirty="0"/>
              <a:t>Maven </a:t>
            </a:r>
            <a:r>
              <a:rPr lang="zh-CN" altLang="en-US" sz="2000" dirty="0"/>
              <a:t>依赖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要实现一个功能，需要引入哪些依赖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zh-CN" altLang="en-US" sz="2000" dirty="0"/>
              <a:t>多个依赖项目之间是否会有兼容问题</a:t>
            </a: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/>
              <a:t>很久以前</a:t>
            </a:r>
            <a:r>
              <a:rPr lang="en-US" altLang="zh-CN" sz="4400" dirty="0"/>
              <a:t>……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414218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8467" y="1937037"/>
            <a:ext cx="9416532" cy="307430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/>
              <a:t>了解你的依赖</a:t>
            </a:r>
            <a:endParaRPr lang="en-US" altLang="zh-CN" sz="2000" b="1" dirty="0"/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/>
              <a:t>mvn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dependency:tree</a:t>
            </a:r>
            <a:endParaRPr lang="en-US" altLang="zh-CN" sz="2000" dirty="0"/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IDEA Maven Helper </a:t>
            </a:r>
            <a:r>
              <a:rPr lang="zh-CN" altLang="en-US" sz="2000" dirty="0"/>
              <a:t>插件</a:t>
            </a:r>
          </a:p>
          <a:p>
            <a:pPr>
              <a:lnSpc>
                <a:spcPct val="200000"/>
              </a:lnSpc>
            </a:pPr>
            <a:r>
              <a:rPr lang="zh-CN" altLang="en-US" sz="2000" b="1" dirty="0"/>
              <a:t>排除特定依赖</a:t>
            </a:r>
            <a:endParaRPr lang="en-US" altLang="zh-CN" sz="2000" b="1" dirty="0"/>
          </a:p>
          <a:p>
            <a:pPr marL="800100" lvl="1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/>
              <a:t>exclusion</a:t>
            </a:r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95293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dirty="0"/>
              <a:t>关于 </a:t>
            </a:r>
            <a:r>
              <a:rPr lang="en-US" altLang="zh-CN" sz="4400" dirty="0"/>
              <a:t>Maven </a:t>
            </a:r>
            <a:r>
              <a:rPr lang="zh-CN" altLang="en-US" sz="4400" dirty="0"/>
              <a:t>依赖管理的一些小技巧</a:t>
            </a:r>
          </a:p>
        </p:txBody>
      </p:sp>
    </p:spTree>
    <p:extLst>
      <p:ext uri="{BB962C8B-B14F-4D97-AF65-F5344CB8AC3E}">
        <p14:creationId xmlns:p14="http://schemas.microsoft.com/office/powerpoint/2010/main" val="2296968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8659" y="0"/>
            <a:ext cx="10749367" cy="738231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Microsoft YaHei" charset="-122"/>
                <a:ea typeface="Microsoft YaHei" charset="-122"/>
                <a:cs typeface="Microsoft YaHei" charset="-122"/>
              </a:rPr>
              <a:t>      Spring Boot</a:t>
            </a:r>
            <a:endParaRPr lang="zh-CN" altLang="en-US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45451" y="2142308"/>
            <a:ext cx="10098405" cy="246112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6350"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Spring Boot</a:t>
            </a:r>
            <a:r>
              <a:rPr lang="zh-CN" altLang="en-US" sz="2000" dirty="0"/>
              <a:t>集成 </a:t>
            </a:r>
            <a:r>
              <a:rPr lang="en-US" altLang="zh-CN" sz="2000" dirty="0" err="1"/>
              <a:t>Mybatis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Spring Boot</a:t>
            </a:r>
            <a:r>
              <a:rPr lang="zh-CN" altLang="en-US" sz="2000" dirty="0"/>
              <a:t> 邮件服务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Spring boot </a:t>
            </a:r>
            <a:r>
              <a:rPr lang="zh-CN" altLang="zh-CN" sz="2000" dirty="0"/>
              <a:t>集成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shiro</a:t>
            </a:r>
            <a:endParaRPr lang="en-US" altLang="zh-CN" sz="2000" dirty="0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"/>
            </a:pPr>
            <a:r>
              <a:rPr lang="en-US" altLang="zh-CN" sz="2000" dirty="0"/>
              <a:t>Spring boot </a:t>
            </a:r>
            <a:r>
              <a:rPr lang="zh-CN" altLang="zh-CN" sz="2000" dirty="0"/>
              <a:t>集成</a:t>
            </a:r>
            <a:r>
              <a:rPr lang="en-US" altLang="zh-CN" sz="2000" dirty="0"/>
              <a:t> Redis</a:t>
            </a:r>
            <a:endParaRPr lang="zh-CN" altLang="zh-CN" sz="2000" dirty="0"/>
          </a:p>
        </p:txBody>
      </p:sp>
      <p:sp>
        <p:nvSpPr>
          <p:cNvPr id="12" name="矩形: 圆角 1"/>
          <p:cNvSpPr/>
          <p:nvPr/>
        </p:nvSpPr>
        <p:spPr>
          <a:xfrm rot="2700000">
            <a:off x="220543" y="96253"/>
            <a:ext cx="608141" cy="608141"/>
          </a:xfrm>
          <a:prstGeom prst="roundRect">
            <a:avLst/>
          </a:prstGeom>
          <a:solidFill>
            <a:srgbClr val="D54F2B"/>
          </a:solidFill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60758" y="170135"/>
            <a:ext cx="5277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01</a:t>
            </a:r>
            <a:endParaRPr kumimoji="0" lang="en-US" altLang="zh-CN" sz="2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8774CCB-49CD-49C1-A574-11C466B40309}"/>
              </a:ext>
            </a:extLst>
          </p:cNvPr>
          <p:cNvSpPr/>
          <p:nvPr/>
        </p:nvSpPr>
        <p:spPr>
          <a:xfrm>
            <a:off x="1695291" y="961541"/>
            <a:ext cx="820189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400"/>
              <a:t>Spring Boot </a:t>
            </a:r>
            <a:r>
              <a:rPr lang="zh-CN" altLang="en-US" sz="4400"/>
              <a:t>练习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21282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/>
          <a:lstStyle/>
          <a:p>
            <a:r>
              <a:rPr lang="zh-CN" altLang="en-US" sz="4000" dirty="0">
                <a:latin typeface="Microsoft YaHei" charset="-122"/>
                <a:ea typeface="Microsoft YaHei" charset="-122"/>
                <a:cs typeface="Microsoft YaHei" charset="-122"/>
              </a:rPr>
              <a:t>感谢您的支持</a:t>
            </a:r>
            <a:endParaRPr lang="zh-CN" sz="4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28267" y="2402238"/>
            <a:ext cx="5859506" cy="218722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4000" dirty="0">
                <a:latin typeface="Microsoft YaHei" charset="-122"/>
                <a:ea typeface="Microsoft YaHei" charset="-122"/>
                <a:cs typeface="Microsoft YaHei" charset="-122"/>
              </a:rPr>
              <a:t>欢迎您的意见</a:t>
            </a:r>
            <a:endParaRPr lang="zh-CN" sz="40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6612981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Doc" id="{E1E7EDF9-8B79-4E5D-B508-2301E35CD219}" vid="{4342E303-0389-44F2-B6F0-C13C203CC5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8DBC0A1-66E1-4B9D-88C2-9B3A32A2147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欢迎使用 PowerPoint</Template>
  <TotalTime>0</TotalTime>
  <Words>580</Words>
  <Application>Microsoft Office PowerPoint</Application>
  <PresentationFormat>宽屏</PresentationFormat>
  <Paragraphs>150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Microsoft YaHei UI</vt:lpstr>
      <vt:lpstr>黑体</vt:lpstr>
      <vt:lpstr>宋体</vt:lpstr>
      <vt:lpstr>Microsoft YaHei</vt:lpstr>
      <vt:lpstr>Microsoft YaHei</vt:lpstr>
      <vt:lpstr>Arial</vt:lpstr>
      <vt:lpstr>Calibri</vt:lpstr>
      <vt:lpstr>Segoe UI</vt:lpstr>
      <vt:lpstr>Segoe UI Light</vt:lpstr>
      <vt:lpstr>Wingdings</vt:lpstr>
      <vt:lpstr>WelcomeDoc</vt:lpstr>
      <vt:lpstr>Spring Boot</vt:lpstr>
      <vt:lpstr>Spring Boot</vt:lpstr>
      <vt:lpstr>      Spring Boot</vt:lpstr>
      <vt:lpstr>      Spring Boot</vt:lpstr>
      <vt:lpstr>      Spring Boot</vt:lpstr>
      <vt:lpstr>      Spring Boot 入门</vt:lpstr>
      <vt:lpstr>      Spring Boot 入门</vt:lpstr>
      <vt:lpstr>热 Spring Boot热部署</vt:lpstr>
      <vt:lpstr>      Spring Boot 定时任务</vt:lpstr>
      <vt:lpstr>Spring Boot</vt:lpstr>
      <vt:lpstr>      Spring Boot</vt:lpstr>
      <vt:lpstr>      Spring Boot</vt:lpstr>
      <vt:lpstr>      Spring Boot</vt:lpstr>
      <vt:lpstr>Spring Boot</vt:lpstr>
      <vt:lpstr>      Spring Boot</vt:lpstr>
      <vt:lpstr>      Spring Boot</vt:lpstr>
      <vt:lpstr>      Spring Boot</vt:lpstr>
      <vt:lpstr>感谢您的支持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2014-12-18T01:58:08Z</dcterms:created>
  <dcterms:modified xsi:type="dcterms:W3CDTF">2020-07-13T09:27:46Z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